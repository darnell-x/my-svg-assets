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63" d="100"/>
          <a:sy n="63" d="100"/>
        </p:scale>
        <p:origin x="7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9" name="加载项 8">
                <a:extLst>
                  <a:ext uri="{FF2B5EF4-FFF2-40B4-BE49-F238E27FC236}">
                    <a16:creationId xmlns:a16="http://schemas.microsoft.com/office/drawing/2014/main" id="{D80B0E18-C965-1FCA-8A46-4E08E9D845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9299570"/>
                  </p:ext>
                </p:extLst>
              </p:nvPr>
            </p:nvGraphicFramePr>
            <p:xfrm>
              <a:off x="-46800" y="0"/>
              <a:ext cx="12240000" cy="74124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9" name="加载项 8">
                <a:extLst>
                  <a:ext uri="{FF2B5EF4-FFF2-40B4-BE49-F238E27FC236}">
                    <a16:creationId xmlns:a16="http://schemas.microsoft.com/office/drawing/2014/main" id="{D80B0E18-C965-1FCA-8A46-4E08E9D845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6800" y="0"/>
                <a:ext cx="12240000" cy="74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D2397297-44A8-1C9E-4254-821944D9945E}"/>
              </a:ext>
            </a:extLst>
          </p:cNvPr>
          <p:cNvGrpSpPr/>
          <p:nvPr/>
        </p:nvGrpSpPr>
        <p:grpSpPr>
          <a:xfrm>
            <a:off x="3541602" y="1866601"/>
            <a:ext cx="6009713" cy="3124797"/>
            <a:chOff x="2295606" y="1181102"/>
            <a:chExt cx="6181238" cy="3213983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27D5D6A1-D31C-CD61-47AD-80B5A9158B61}"/>
                </a:ext>
              </a:extLst>
            </p:cNvPr>
            <p:cNvGrpSpPr/>
            <p:nvPr/>
          </p:nvGrpSpPr>
          <p:grpSpPr>
            <a:xfrm>
              <a:off x="2295606" y="1181102"/>
              <a:ext cx="6181238" cy="2864417"/>
              <a:chOff x="2295609" y="2207435"/>
              <a:chExt cx="7415134" cy="2544669"/>
            </a:xfrm>
          </p:grpSpPr>
          <p:sp>
            <p:nvSpPr>
              <p:cNvPr id="18" name="流程图: 过程 17">
                <a:extLst>
                  <a:ext uri="{FF2B5EF4-FFF2-40B4-BE49-F238E27FC236}">
                    <a16:creationId xmlns:a16="http://schemas.microsoft.com/office/drawing/2014/main" id="{2090119F-0D77-092D-F64B-D323361B45D1}"/>
                  </a:ext>
                </a:extLst>
              </p:cNvPr>
              <p:cNvSpPr/>
              <p:nvPr/>
            </p:nvSpPr>
            <p:spPr>
              <a:xfrm>
                <a:off x="7278339" y="4425567"/>
                <a:ext cx="234840" cy="323850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9" name="流程图: 过程 18">
                <a:extLst>
                  <a:ext uri="{FF2B5EF4-FFF2-40B4-BE49-F238E27FC236}">
                    <a16:creationId xmlns:a16="http://schemas.microsoft.com/office/drawing/2014/main" id="{30B66880-3DFC-A17A-4529-C8F7F1316653}"/>
                  </a:ext>
                </a:extLst>
              </p:cNvPr>
              <p:cNvSpPr/>
              <p:nvPr/>
            </p:nvSpPr>
            <p:spPr>
              <a:xfrm>
                <a:off x="8799523" y="2713724"/>
                <a:ext cx="310488" cy="213621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endParaRPr lang="zh-CN" altLang="en-US" sz="300"/>
              </a:p>
            </p:txBody>
          </p:sp>
          <p:sp>
            <p:nvSpPr>
              <p:cNvPr id="20" name="流程图: 过程 19">
                <a:extLst>
                  <a:ext uri="{FF2B5EF4-FFF2-40B4-BE49-F238E27FC236}">
                    <a16:creationId xmlns:a16="http://schemas.microsoft.com/office/drawing/2014/main" id="{DB697EDC-8DFB-D460-6711-E4369D24008B}"/>
                  </a:ext>
                </a:extLst>
              </p:cNvPr>
              <p:cNvSpPr/>
              <p:nvPr/>
            </p:nvSpPr>
            <p:spPr>
              <a:xfrm>
                <a:off x="9015985" y="3038271"/>
                <a:ext cx="574260" cy="313600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endParaRPr lang="zh-CN" altLang="en-US" sz="800"/>
              </a:p>
            </p:txBody>
          </p:sp>
          <p:sp>
            <p:nvSpPr>
              <p:cNvPr id="21" name="流程图: 过程 20">
                <a:extLst>
                  <a:ext uri="{FF2B5EF4-FFF2-40B4-BE49-F238E27FC236}">
                    <a16:creationId xmlns:a16="http://schemas.microsoft.com/office/drawing/2014/main" id="{6AE7BE8B-CC9D-8F49-D5CD-0E3881E479A1}"/>
                  </a:ext>
                </a:extLst>
              </p:cNvPr>
              <p:cNvSpPr/>
              <p:nvPr/>
            </p:nvSpPr>
            <p:spPr>
              <a:xfrm>
                <a:off x="2345941" y="2469427"/>
                <a:ext cx="1190068" cy="209851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1000"/>
                  <a:t>TE/ME</a:t>
                </a:r>
                <a:r>
                  <a:rPr lang="zh-CN" altLang="en-US" sz="1000"/>
                  <a:t>备件库</a:t>
                </a:r>
              </a:p>
            </p:txBody>
          </p:sp>
          <p:sp>
            <p:nvSpPr>
              <p:cNvPr id="22" name="流程图: 过程 21">
                <a:extLst>
                  <a:ext uri="{FF2B5EF4-FFF2-40B4-BE49-F238E27FC236}">
                    <a16:creationId xmlns:a16="http://schemas.microsoft.com/office/drawing/2014/main" id="{472C4B70-5293-826C-C7D8-E726C5AEDA25}"/>
                  </a:ext>
                </a:extLst>
              </p:cNvPr>
              <p:cNvSpPr/>
              <p:nvPr/>
            </p:nvSpPr>
            <p:spPr>
              <a:xfrm>
                <a:off x="3554234" y="2476566"/>
                <a:ext cx="384111" cy="108588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300"/>
                  <a:t>测试区</a:t>
                </a:r>
              </a:p>
            </p:txBody>
          </p:sp>
          <p:sp>
            <p:nvSpPr>
              <p:cNvPr id="23" name="流程图: 过程 22">
                <a:extLst>
                  <a:ext uri="{FF2B5EF4-FFF2-40B4-BE49-F238E27FC236}">
                    <a16:creationId xmlns:a16="http://schemas.microsoft.com/office/drawing/2014/main" id="{4CD416AA-C1D9-5BBC-31ED-269E166B6EE3}"/>
                  </a:ext>
                </a:extLst>
              </p:cNvPr>
              <p:cNvSpPr/>
              <p:nvPr/>
            </p:nvSpPr>
            <p:spPr>
              <a:xfrm>
                <a:off x="3554233" y="2704792"/>
                <a:ext cx="384111" cy="327483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500"/>
                  <a:t>WP6#</a:t>
                </a:r>
                <a:r>
                  <a:rPr lang="zh-CN" altLang="en-US" sz="500"/>
                  <a:t>老化房</a:t>
                </a:r>
              </a:p>
            </p:txBody>
          </p:sp>
          <p:sp>
            <p:nvSpPr>
              <p:cNvPr id="24" name="流程图: 过程 23">
                <a:extLst>
                  <a:ext uri="{FF2B5EF4-FFF2-40B4-BE49-F238E27FC236}">
                    <a16:creationId xmlns:a16="http://schemas.microsoft.com/office/drawing/2014/main" id="{769C038A-7B38-BAC2-4338-6B12C0712652}"/>
                  </a:ext>
                </a:extLst>
              </p:cNvPr>
              <p:cNvSpPr/>
              <p:nvPr/>
            </p:nvSpPr>
            <p:spPr>
              <a:xfrm>
                <a:off x="3554233" y="3046538"/>
                <a:ext cx="384111" cy="278549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货梯</a:t>
                </a:r>
                <a:endParaRPr lang="en-US" altLang="zh-CN" sz="500"/>
              </a:p>
              <a:p>
                <a:pPr algn="ctr"/>
                <a:r>
                  <a:rPr lang="zh-CN" altLang="en-US" sz="500"/>
                  <a:t>货梯</a:t>
                </a:r>
              </a:p>
            </p:txBody>
          </p:sp>
          <p:sp>
            <p:nvSpPr>
              <p:cNvPr id="25" name="流程图: 过程 24">
                <a:extLst>
                  <a:ext uri="{FF2B5EF4-FFF2-40B4-BE49-F238E27FC236}">
                    <a16:creationId xmlns:a16="http://schemas.microsoft.com/office/drawing/2014/main" id="{422D4858-3A70-D684-0542-8585C282C9A6}"/>
                  </a:ext>
                </a:extLst>
              </p:cNvPr>
              <p:cNvSpPr/>
              <p:nvPr/>
            </p:nvSpPr>
            <p:spPr>
              <a:xfrm>
                <a:off x="3554233" y="3393872"/>
                <a:ext cx="384111" cy="739594"/>
              </a:xfrm>
              <a:prstGeom prst="flowChartProcess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500" err="1"/>
                  <a:t>Testbay</a:t>
                </a:r>
                <a:r>
                  <a:rPr lang="en-US" altLang="zh-CN" sz="500"/>
                  <a:t>(NFT)</a:t>
                </a:r>
              </a:p>
              <a:p>
                <a:pPr algn="ctr"/>
                <a:endParaRPr lang="en-US" altLang="zh-CN" sz="500"/>
              </a:p>
              <a:p>
                <a:pPr algn="ctr"/>
                <a:r>
                  <a:rPr lang="en-US" altLang="zh-CN" sz="500" err="1"/>
                  <a:t>Testbay</a:t>
                </a:r>
                <a:r>
                  <a:rPr lang="en-US" altLang="zh-CN" sz="500"/>
                  <a:t>(CLR</a:t>
                </a:r>
                <a:endParaRPr lang="zh-CN" altLang="en-US" sz="500"/>
              </a:p>
            </p:txBody>
          </p:sp>
          <p:sp>
            <p:nvSpPr>
              <p:cNvPr id="26" name="流程图: 过程 25">
                <a:extLst>
                  <a:ext uri="{FF2B5EF4-FFF2-40B4-BE49-F238E27FC236}">
                    <a16:creationId xmlns:a16="http://schemas.microsoft.com/office/drawing/2014/main" id="{7A225007-C404-B820-DACB-3A490328F2A8}"/>
                  </a:ext>
                </a:extLst>
              </p:cNvPr>
              <p:cNvSpPr/>
              <p:nvPr/>
            </p:nvSpPr>
            <p:spPr>
              <a:xfrm>
                <a:off x="3554233" y="4171112"/>
                <a:ext cx="384111" cy="181882"/>
              </a:xfrm>
              <a:prstGeom prst="flowChartProcess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400"/>
                  <a:t>Rohs</a:t>
                </a:r>
                <a:r>
                  <a:rPr lang="zh-CN" altLang="en-US" sz="400"/>
                  <a:t>实验室</a:t>
                </a:r>
              </a:p>
            </p:txBody>
          </p:sp>
          <p:sp>
            <p:nvSpPr>
              <p:cNvPr id="27" name="流程图: 过程 26">
                <a:extLst>
                  <a:ext uri="{FF2B5EF4-FFF2-40B4-BE49-F238E27FC236}">
                    <a16:creationId xmlns:a16="http://schemas.microsoft.com/office/drawing/2014/main" id="{DE1BFE6F-5AF4-14D1-4D92-582CADD8E4EC}"/>
                  </a:ext>
                </a:extLst>
              </p:cNvPr>
              <p:cNvSpPr/>
              <p:nvPr/>
            </p:nvSpPr>
            <p:spPr>
              <a:xfrm>
                <a:off x="4011279" y="3989230"/>
                <a:ext cx="1655282" cy="181882"/>
              </a:xfrm>
              <a:prstGeom prst="flowChartProcess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500" err="1"/>
                  <a:t>Testbay</a:t>
                </a:r>
                <a:r>
                  <a:rPr lang="zh-CN" altLang="en-US" sz="500"/>
                  <a:t>（</a:t>
                </a:r>
                <a:r>
                  <a:rPr lang="en-US" altLang="zh-CN" sz="500"/>
                  <a:t>witness</a:t>
                </a:r>
                <a:r>
                  <a:rPr lang="zh-CN" altLang="en-US" sz="500"/>
                  <a:t>）</a:t>
                </a:r>
              </a:p>
            </p:txBody>
          </p:sp>
          <p:sp>
            <p:nvSpPr>
              <p:cNvPr id="28" name="流程图: 过程 27">
                <a:extLst>
                  <a:ext uri="{FF2B5EF4-FFF2-40B4-BE49-F238E27FC236}">
                    <a16:creationId xmlns:a16="http://schemas.microsoft.com/office/drawing/2014/main" id="{088E491D-8FE8-F0FB-E802-9AD70251DDE0}"/>
                  </a:ext>
                </a:extLst>
              </p:cNvPr>
              <p:cNvSpPr/>
              <p:nvPr/>
            </p:nvSpPr>
            <p:spPr>
              <a:xfrm>
                <a:off x="4011279" y="4171112"/>
                <a:ext cx="718022" cy="181882"/>
              </a:xfrm>
              <a:prstGeom prst="flowChartProcess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9" name="流程图: 过程 28">
                <a:extLst>
                  <a:ext uri="{FF2B5EF4-FFF2-40B4-BE49-F238E27FC236}">
                    <a16:creationId xmlns:a16="http://schemas.microsoft.com/office/drawing/2014/main" id="{C9B4C73D-8739-A301-869F-6D5394382A1A}"/>
                  </a:ext>
                </a:extLst>
              </p:cNvPr>
              <p:cNvSpPr/>
              <p:nvPr/>
            </p:nvSpPr>
            <p:spPr>
              <a:xfrm>
                <a:off x="4874906" y="4181272"/>
                <a:ext cx="278575" cy="181882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400"/>
                  <a:t>垃圾房</a:t>
                </a:r>
              </a:p>
            </p:txBody>
          </p:sp>
          <p:sp>
            <p:nvSpPr>
              <p:cNvPr id="30" name="流程图: 过程 29">
                <a:extLst>
                  <a:ext uri="{FF2B5EF4-FFF2-40B4-BE49-F238E27FC236}">
                    <a16:creationId xmlns:a16="http://schemas.microsoft.com/office/drawing/2014/main" id="{13A31ECD-181A-B341-2DC0-FACF363CF48B}"/>
                  </a:ext>
                </a:extLst>
              </p:cNvPr>
              <p:cNvSpPr/>
              <p:nvPr/>
            </p:nvSpPr>
            <p:spPr>
              <a:xfrm>
                <a:off x="5153481" y="4181272"/>
                <a:ext cx="513080" cy="181882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包材放置区</a:t>
                </a:r>
              </a:p>
            </p:txBody>
          </p:sp>
          <p:sp>
            <p:nvSpPr>
              <p:cNvPr id="31" name="流程图: 过程 30">
                <a:extLst>
                  <a:ext uri="{FF2B5EF4-FFF2-40B4-BE49-F238E27FC236}">
                    <a16:creationId xmlns:a16="http://schemas.microsoft.com/office/drawing/2014/main" id="{78194FF4-C9E5-129D-71A2-D9CC1DA193A4}"/>
                  </a:ext>
                </a:extLst>
              </p:cNvPr>
              <p:cNvSpPr/>
              <p:nvPr/>
            </p:nvSpPr>
            <p:spPr>
              <a:xfrm>
                <a:off x="4094717" y="3590903"/>
                <a:ext cx="1571843" cy="309687"/>
              </a:xfrm>
              <a:prstGeom prst="flowChartProcess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500"/>
                  <a:t>1.8M</a:t>
                </a:r>
                <a:r>
                  <a:rPr lang="zh-CN" altLang="en-US" sz="500"/>
                  <a:t>平台</a:t>
                </a:r>
              </a:p>
            </p:txBody>
          </p:sp>
          <p:sp>
            <p:nvSpPr>
              <p:cNvPr id="32" name="流程图: 过程 31">
                <a:extLst>
                  <a:ext uri="{FF2B5EF4-FFF2-40B4-BE49-F238E27FC236}">
                    <a16:creationId xmlns:a16="http://schemas.microsoft.com/office/drawing/2014/main" id="{6D0D6263-1DA5-3144-D0B4-B48B87A8D579}"/>
                  </a:ext>
                </a:extLst>
              </p:cNvPr>
              <p:cNvSpPr/>
              <p:nvPr/>
            </p:nvSpPr>
            <p:spPr>
              <a:xfrm>
                <a:off x="4094717" y="3393872"/>
                <a:ext cx="240862" cy="143411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200"/>
                  <a:t>ECLXL</a:t>
                </a:r>
                <a:r>
                  <a:rPr lang="zh-CN" altLang="en-US" sz="200"/>
                  <a:t>自老化位</a:t>
                </a:r>
              </a:p>
            </p:txBody>
          </p:sp>
          <p:sp>
            <p:nvSpPr>
              <p:cNvPr id="33" name="流程图: 过程 32">
                <a:extLst>
                  <a:ext uri="{FF2B5EF4-FFF2-40B4-BE49-F238E27FC236}">
                    <a16:creationId xmlns:a16="http://schemas.microsoft.com/office/drawing/2014/main" id="{4CB074AF-7C92-29C2-6B48-B4D1B24BAEF8}"/>
                  </a:ext>
                </a:extLst>
              </p:cNvPr>
              <p:cNvSpPr/>
              <p:nvPr/>
            </p:nvSpPr>
            <p:spPr>
              <a:xfrm>
                <a:off x="4094717" y="3030386"/>
                <a:ext cx="226914" cy="353326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300"/>
                  <a:t>大机耐压区</a:t>
                </a:r>
              </a:p>
            </p:txBody>
          </p:sp>
          <p:sp>
            <p:nvSpPr>
              <p:cNvPr id="34" name="流程图: 过程 33">
                <a:extLst>
                  <a:ext uri="{FF2B5EF4-FFF2-40B4-BE49-F238E27FC236}">
                    <a16:creationId xmlns:a16="http://schemas.microsoft.com/office/drawing/2014/main" id="{1B11D452-8C3F-3245-F73F-1EEDFC185936}"/>
                  </a:ext>
                </a:extLst>
              </p:cNvPr>
              <p:cNvSpPr/>
              <p:nvPr/>
            </p:nvSpPr>
            <p:spPr>
              <a:xfrm>
                <a:off x="4094717" y="2762649"/>
                <a:ext cx="226914" cy="253217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300"/>
                  <a:t>WP5#</a:t>
                </a:r>
                <a:r>
                  <a:rPr lang="zh-CN" altLang="en-US" sz="300"/>
                  <a:t>老化房</a:t>
                </a:r>
              </a:p>
            </p:txBody>
          </p:sp>
          <p:sp>
            <p:nvSpPr>
              <p:cNvPr id="35" name="流程图: 过程 34">
                <a:extLst>
                  <a:ext uri="{FF2B5EF4-FFF2-40B4-BE49-F238E27FC236}">
                    <a16:creationId xmlns:a16="http://schemas.microsoft.com/office/drawing/2014/main" id="{9FA5A9CD-033C-56E2-B27F-F37D1171F68F}"/>
                  </a:ext>
                </a:extLst>
              </p:cNvPr>
              <p:cNvSpPr/>
              <p:nvPr/>
            </p:nvSpPr>
            <p:spPr>
              <a:xfrm>
                <a:off x="4335581" y="2762649"/>
                <a:ext cx="629940" cy="560774"/>
              </a:xfrm>
              <a:prstGeom prst="flowChartProcess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500"/>
                  <a:t>WP</a:t>
                </a:r>
                <a:r>
                  <a:rPr lang="zh-CN" altLang="en-US" sz="500"/>
                  <a:t>测试、老化区</a:t>
                </a:r>
              </a:p>
            </p:txBody>
          </p:sp>
          <p:sp>
            <p:nvSpPr>
              <p:cNvPr id="36" name="流程图: 过程 35">
                <a:extLst>
                  <a:ext uri="{FF2B5EF4-FFF2-40B4-BE49-F238E27FC236}">
                    <a16:creationId xmlns:a16="http://schemas.microsoft.com/office/drawing/2014/main" id="{B490E640-DCEF-1319-74A5-F029A6401EDC}"/>
                  </a:ext>
                </a:extLst>
              </p:cNvPr>
              <p:cNvSpPr/>
              <p:nvPr/>
            </p:nvSpPr>
            <p:spPr>
              <a:xfrm>
                <a:off x="4335580" y="3333583"/>
                <a:ext cx="1330979" cy="203700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半成品暂存区</a:t>
                </a:r>
              </a:p>
            </p:txBody>
          </p:sp>
          <p:sp>
            <p:nvSpPr>
              <p:cNvPr id="37" name="流程图: 过程 36">
                <a:extLst>
                  <a:ext uri="{FF2B5EF4-FFF2-40B4-BE49-F238E27FC236}">
                    <a16:creationId xmlns:a16="http://schemas.microsoft.com/office/drawing/2014/main" id="{62FECF33-7DAA-1DDC-20B3-34D72540501A}"/>
                  </a:ext>
                </a:extLst>
              </p:cNvPr>
              <p:cNvSpPr/>
              <p:nvPr/>
            </p:nvSpPr>
            <p:spPr>
              <a:xfrm>
                <a:off x="4979470" y="3174601"/>
                <a:ext cx="687089" cy="148822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500"/>
                  <a:t>WP</a:t>
                </a:r>
                <a:r>
                  <a:rPr lang="zh-CN" altLang="en-US" sz="500"/>
                  <a:t>包装区</a:t>
                </a:r>
              </a:p>
            </p:txBody>
          </p:sp>
          <p:sp>
            <p:nvSpPr>
              <p:cNvPr id="38" name="流程图: 过程 37">
                <a:extLst>
                  <a:ext uri="{FF2B5EF4-FFF2-40B4-BE49-F238E27FC236}">
                    <a16:creationId xmlns:a16="http://schemas.microsoft.com/office/drawing/2014/main" id="{136074B1-F382-E6B5-6975-DD8739C8C7D8}"/>
                  </a:ext>
                </a:extLst>
              </p:cNvPr>
              <p:cNvSpPr/>
              <p:nvPr/>
            </p:nvSpPr>
            <p:spPr>
              <a:xfrm>
                <a:off x="5529401" y="2751973"/>
                <a:ext cx="1289226" cy="287744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800"/>
                  <a:t>耐压区</a:t>
                </a:r>
              </a:p>
            </p:txBody>
          </p:sp>
          <p:sp>
            <p:nvSpPr>
              <p:cNvPr id="39" name="流程图: 过程 38">
                <a:extLst>
                  <a:ext uri="{FF2B5EF4-FFF2-40B4-BE49-F238E27FC236}">
                    <a16:creationId xmlns:a16="http://schemas.microsoft.com/office/drawing/2014/main" id="{FC48BE92-704D-40DF-57C5-18599805CC23}"/>
                  </a:ext>
                </a:extLst>
              </p:cNvPr>
              <p:cNvSpPr/>
              <p:nvPr/>
            </p:nvSpPr>
            <p:spPr>
              <a:xfrm>
                <a:off x="5050568" y="2758794"/>
                <a:ext cx="478833" cy="287744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500"/>
                  <a:t>WP</a:t>
                </a:r>
                <a:r>
                  <a:rPr lang="zh-CN" altLang="en-US" sz="500"/>
                  <a:t>待测区</a:t>
                </a:r>
              </a:p>
            </p:txBody>
          </p:sp>
          <p:sp>
            <p:nvSpPr>
              <p:cNvPr id="40" name="流程图: 过程 39">
                <a:extLst>
                  <a:ext uri="{FF2B5EF4-FFF2-40B4-BE49-F238E27FC236}">
                    <a16:creationId xmlns:a16="http://schemas.microsoft.com/office/drawing/2014/main" id="{7915FAEE-C8D1-797C-A275-1C438B0EA19A}"/>
                  </a:ext>
                </a:extLst>
              </p:cNvPr>
              <p:cNvSpPr/>
              <p:nvPr/>
            </p:nvSpPr>
            <p:spPr>
              <a:xfrm>
                <a:off x="6964232" y="2758794"/>
                <a:ext cx="478833" cy="135605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400"/>
                  <a:t>耐压区</a:t>
                </a:r>
              </a:p>
            </p:txBody>
          </p:sp>
          <p:sp>
            <p:nvSpPr>
              <p:cNvPr id="41" name="流程图: 过程 40">
                <a:extLst>
                  <a:ext uri="{FF2B5EF4-FFF2-40B4-BE49-F238E27FC236}">
                    <a16:creationId xmlns:a16="http://schemas.microsoft.com/office/drawing/2014/main" id="{6A92D2D7-4D16-F1A1-368E-AA55FBF88E18}"/>
                  </a:ext>
                </a:extLst>
              </p:cNvPr>
              <p:cNvSpPr/>
              <p:nvPr/>
            </p:nvSpPr>
            <p:spPr>
              <a:xfrm>
                <a:off x="6964232" y="2902666"/>
                <a:ext cx="478833" cy="135605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300"/>
                  <a:t>HIU</a:t>
                </a:r>
                <a:r>
                  <a:rPr lang="zh-CN" altLang="en-US" sz="300"/>
                  <a:t>装配区</a:t>
                </a:r>
              </a:p>
            </p:txBody>
          </p:sp>
          <p:sp>
            <p:nvSpPr>
              <p:cNvPr id="42" name="流程图: 过程 41">
                <a:extLst>
                  <a:ext uri="{FF2B5EF4-FFF2-40B4-BE49-F238E27FC236}">
                    <a16:creationId xmlns:a16="http://schemas.microsoft.com/office/drawing/2014/main" id="{9C5A00C2-DA8F-0B34-7549-94CEFE76A115}"/>
                  </a:ext>
                </a:extLst>
              </p:cNvPr>
              <p:cNvSpPr/>
              <p:nvPr/>
            </p:nvSpPr>
            <p:spPr>
              <a:xfrm>
                <a:off x="7465957" y="2760240"/>
                <a:ext cx="1185997" cy="278031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500"/>
                  <a:t>APM2</a:t>
                </a:r>
                <a:r>
                  <a:rPr lang="zh-CN" altLang="en-US" sz="500"/>
                  <a:t>装配区</a:t>
                </a:r>
              </a:p>
            </p:txBody>
          </p:sp>
          <p:sp>
            <p:nvSpPr>
              <p:cNvPr id="43" name="流程图: 过程 42">
                <a:extLst>
                  <a:ext uri="{FF2B5EF4-FFF2-40B4-BE49-F238E27FC236}">
                    <a16:creationId xmlns:a16="http://schemas.microsoft.com/office/drawing/2014/main" id="{CA788FB1-22D3-94C3-FB4D-85BCD81F5CEB}"/>
                  </a:ext>
                </a:extLst>
              </p:cNvPr>
              <p:cNvSpPr/>
              <p:nvPr/>
            </p:nvSpPr>
            <p:spPr>
              <a:xfrm>
                <a:off x="7055703" y="3139246"/>
                <a:ext cx="1596251" cy="184177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500"/>
                  <a:t>EXL</a:t>
                </a:r>
                <a:r>
                  <a:rPr lang="zh-CN" altLang="en-US" sz="500"/>
                  <a:t>装配区</a:t>
                </a:r>
              </a:p>
            </p:txBody>
          </p:sp>
          <p:sp>
            <p:nvSpPr>
              <p:cNvPr id="44" name="流程图: 过程 43">
                <a:extLst>
                  <a:ext uri="{FF2B5EF4-FFF2-40B4-BE49-F238E27FC236}">
                    <a16:creationId xmlns:a16="http://schemas.microsoft.com/office/drawing/2014/main" id="{5E30AEE9-43BD-2261-335D-36A6C68C7C40}"/>
                  </a:ext>
                </a:extLst>
              </p:cNvPr>
              <p:cNvSpPr/>
              <p:nvPr/>
            </p:nvSpPr>
            <p:spPr>
              <a:xfrm>
                <a:off x="7055703" y="3332309"/>
                <a:ext cx="1596251" cy="568281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库房</a:t>
                </a:r>
              </a:p>
            </p:txBody>
          </p:sp>
          <p:sp>
            <p:nvSpPr>
              <p:cNvPr id="45" name="流程图: 过程 44">
                <a:extLst>
                  <a:ext uri="{FF2B5EF4-FFF2-40B4-BE49-F238E27FC236}">
                    <a16:creationId xmlns:a16="http://schemas.microsoft.com/office/drawing/2014/main" id="{EDB9029E-61D5-243D-5AD3-086D835E2DA2}"/>
                  </a:ext>
                </a:extLst>
              </p:cNvPr>
              <p:cNvSpPr/>
              <p:nvPr/>
            </p:nvSpPr>
            <p:spPr>
              <a:xfrm>
                <a:off x="5842739" y="3146906"/>
                <a:ext cx="1034777" cy="184177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半成品暂存区</a:t>
                </a:r>
              </a:p>
            </p:txBody>
          </p:sp>
          <p:sp>
            <p:nvSpPr>
              <p:cNvPr id="46" name="流程图: 过程 45">
                <a:extLst>
                  <a:ext uri="{FF2B5EF4-FFF2-40B4-BE49-F238E27FC236}">
                    <a16:creationId xmlns:a16="http://schemas.microsoft.com/office/drawing/2014/main" id="{5DE44883-0C3A-F229-2AE3-9E1E842F37DF}"/>
                  </a:ext>
                </a:extLst>
              </p:cNvPr>
              <p:cNvSpPr/>
              <p:nvPr/>
            </p:nvSpPr>
            <p:spPr>
              <a:xfrm>
                <a:off x="5842739" y="3343344"/>
                <a:ext cx="1034777" cy="236359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拆包区</a:t>
                </a:r>
              </a:p>
            </p:txBody>
          </p:sp>
          <p:sp>
            <p:nvSpPr>
              <p:cNvPr id="47" name="流程图: 过程 46">
                <a:extLst>
                  <a:ext uri="{FF2B5EF4-FFF2-40B4-BE49-F238E27FC236}">
                    <a16:creationId xmlns:a16="http://schemas.microsoft.com/office/drawing/2014/main" id="{0FB6FF73-AF09-19A3-8079-A347797E82DF}"/>
                  </a:ext>
                </a:extLst>
              </p:cNvPr>
              <p:cNvSpPr/>
              <p:nvPr/>
            </p:nvSpPr>
            <p:spPr>
              <a:xfrm>
                <a:off x="5840913" y="3593063"/>
                <a:ext cx="1034777" cy="307527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包装区</a:t>
                </a:r>
              </a:p>
            </p:txBody>
          </p:sp>
          <p:sp>
            <p:nvSpPr>
              <p:cNvPr id="48" name="流程图: 过程 47">
                <a:extLst>
                  <a:ext uri="{FF2B5EF4-FFF2-40B4-BE49-F238E27FC236}">
                    <a16:creationId xmlns:a16="http://schemas.microsoft.com/office/drawing/2014/main" id="{A35E2880-550F-8656-04DB-4A33CEB5B53E}"/>
                  </a:ext>
                </a:extLst>
              </p:cNvPr>
              <p:cNvSpPr/>
              <p:nvPr/>
            </p:nvSpPr>
            <p:spPr>
              <a:xfrm>
                <a:off x="5840914" y="3991949"/>
                <a:ext cx="323488" cy="189324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400"/>
                  <a:t>物料周转区</a:t>
                </a:r>
              </a:p>
            </p:txBody>
          </p:sp>
          <p:sp>
            <p:nvSpPr>
              <p:cNvPr id="49" name="流程图: 过程 48">
                <a:extLst>
                  <a:ext uri="{FF2B5EF4-FFF2-40B4-BE49-F238E27FC236}">
                    <a16:creationId xmlns:a16="http://schemas.microsoft.com/office/drawing/2014/main" id="{502E9706-46EC-8C63-CB58-3E9747116CF7}"/>
                  </a:ext>
                </a:extLst>
              </p:cNvPr>
              <p:cNvSpPr/>
              <p:nvPr/>
            </p:nvSpPr>
            <p:spPr>
              <a:xfrm>
                <a:off x="6174014" y="3991949"/>
                <a:ext cx="604160" cy="189324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包材区</a:t>
                </a:r>
              </a:p>
            </p:txBody>
          </p:sp>
          <p:sp>
            <p:nvSpPr>
              <p:cNvPr id="50" name="流程图: 过程 49">
                <a:extLst>
                  <a:ext uri="{FF2B5EF4-FFF2-40B4-BE49-F238E27FC236}">
                    <a16:creationId xmlns:a16="http://schemas.microsoft.com/office/drawing/2014/main" id="{708393F6-6C7E-D2EF-0DB4-A4C3354F12F1}"/>
                  </a:ext>
                </a:extLst>
              </p:cNvPr>
              <p:cNvSpPr/>
              <p:nvPr/>
            </p:nvSpPr>
            <p:spPr>
              <a:xfrm>
                <a:off x="7067163" y="3985509"/>
                <a:ext cx="990669" cy="189324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600"/>
                  <a:t>IQC</a:t>
                </a:r>
                <a:endParaRPr lang="zh-CN" altLang="en-US" sz="600"/>
              </a:p>
            </p:txBody>
          </p:sp>
          <p:sp>
            <p:nvSpPr>
              <p:cNvPr id="51" name="流程图: 过程 50">
                <a:extLst>
                  <a:ext uri="{FF2B5EF4-FFF2-40B4-BE49-F238E27FC236}">
                    <a16:creationId xmlns:a16="http://schemas.microsoft.com/office/drawing/2014/main" id="{8A78E747-3A73-EEF4-65F3-2AB666F3B072}"/>
                  </a:ext>
                </a:extLst>
              </p:cNvPr>
              <p:cNvSpPr/>
              <p:nvPr/>
            </p:nvSpPr>
            <p:spPr>
              <a:xfrm>
                <a:off x="6787787" y="3991949"/>
                <a:ext cx="87904" cy="189324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52" name="流程图: 过程 51">
                <a:extLst>
                  <a:ext uri="{FF2B5EF4-FFF2-40B4-BE49-F238E27FC236}">
                    <a16:creationId xmlns:a16="http://schemas.microsoft.com/office/drawing/2014/main" id="{3361A110-0662-59CC-54A6-28BBB45D9F3A}"/>
                  </a:ext>
                </a:extLst>
              </p:cNvPr>
              <p:cNvSpPr/>
              <p:nvPr/>
            </p:nvSpPr>
            <p:spPr>
              <a:xfrm>
                <a:off x="4043887" y="2473480"/>
                <a:ext cx="2285614" cy="231943"/>
              </a:xfrm>
              <a:prstGeom prst="flowChartProcess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800"/>
                  <a:t>1#-14#Testbay</a:t>
                </a:r>
                <a:endParaRPr lang="zh-CN" altLang="en-US" sz="800"/>
              </a:p>
            </p:txBody>
          </p:sp>
          <p:sp>
            <p:nvSpPr>
              <p:cNvPr id="53" name="流程图: 过程 52">
                <a:extLst>
                  <a:ext uri="{FF2B5EF4-FFF2-40B4-BE49-F238E27FC236}">
                    <a16:creationId xmlns:a16="http://schemas.microsoft.com/office/drawing/2014/main" id="{8C302B31-8C95-1AAE-6947-A23E685F723A}"/>
                  </a:ext>
                </a:extLst>
              </p:cNvPr>
              <p:cNvSpPr/>
              <p:nvPr/>
            </p:nvSpPr>
            <p:spPr>
              <a:xfrm>
                <a:off x="6461366" y="2471690"/>
                <a:ext cx="605797" cy="231943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500"/>
                  <a:t>HIU</a:t>
                </a:r>
                <a:r>
                  <a:rPr lang="zh-CN" altLang="en-US" sz="500"/>
                  <a:t>老化房</a:t>
                </a:r>
              </a:p>
            </p:txBody>
          </p:sp>
          <p:sp>
            <p:nvSpPr>
              <p:cNvPr id="54" name="流程图: 过程 53">
                <a:extLst>
                  <a:ext uri="{FF2B5EF4-FFF2-40B4-BE49-F238E27FC236}">
                    <a16:creationId xmlns:a16="http://schemas.microsoft.com/office/drawing/2014/main" id="{CE0D93D6-8291-7525-A727-C3510DEA5753}"/>
                  </a:ext>
                </a:extLst>
              </p:cNvPr>
              <p:cNvSpPr/>
              <p:nvPr/>
            </p:nvSpPr>
            <p:spPr>
              <a:xfrm>
                <a:off x="7135467" y="2475217"/>
                <a:ext cx="1604625" cy="231943"/>
              </a:xfrm>
              <a:prstGeom prst="flowChartProcess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800"/>
                  <a:t>40#-44#Testbay</a:t>
                </a:r>
                <a:endParaRPr lang="zh-CN" altLang="en-US" sz="800"/>
              </a:p>
            </p:txBody>
          </p:sp>
          <p:sp>
            <p:nvSpPr>
              <p:cNvPr id="55" name="流程图: 过程 54">
                <a:extLst>
                  <a:ext uri="{FF2B5EF4-FFF2-40B4-BE49-F238E27FC236}">
                    <a16:creationId xmlns:a16="http://schemas.microsoft.com/office/drawing/2014/main" id="{B480957E-3973-2B0E-74B2-14FD66F3F8E9}"/>
                  </a:ext>
                </a:extLst>
              </p:cNvPr>
              <p:cNvSpPr/>
              <p:nvPr/>
            </p:nvSpPr>
            <p:spPr>
              <a:xfrm>
                <a:off x="8797559" y="3277304"/>
                <a:ext cx="792685" cy="313600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800"/>
                  <a:t>贵重品库房</a:t>
                </a:r>
              </a:p>
            </p:txBody>
          </p:sp>
          <p:sp>
            <p:nvSpPr>
              <p:cNvPr id="56" name="流程图: 过程 55">
                <a:extLst>
                  <a:ext uri="{FF2B5EF4-FFF2-40B4-BE49-F238E27FC236}">
                    <a16:creationId xmlns:a16="http://schemas.microsoft.com/office/drawing/2014/main" id="{DFB71538-E408-DAC0-150E-2E8F11299D6D}"/>
                  </a:ext>
                </a:extLst>
              </p:cNvPr>
              <p:cNvSpPr/>
              <p:nvPr/>
            </p:nvSpPr>
            <p:spPr>
              <a:xfrm>
                <a:off x="8799373" y="2446229"/>
                <a:ext cx="810537" cy="312565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700"/>
                  <a:t>大厅</a:t>
                </a:r>
              </a:p>
            </p:txBody>
          </p:sp>
          <p:sp>
            <p:nvSpPr>
              <p:cNvPr id="57" name="流程图: 过程 56">
                <a:extLst>
                  <a:ext uri="{FF2B5EF4-FFF2-40B4-BE49-F238E27FC236}">
                    <a16:creationId xmlns:a16="http://schemas.microsoft.com/office/drawing/2014/main" id="{4CCA4128-63C0-174E-23C5-860B837F23D0}"/>
                  </a:ext>
                </a:extLst>
              </p:cNvPr>
              <p:cNvSpPr/>
              <p:nvPr/>
            </p:nvSpPr>
            <p:spPr>
              <a:xfrm>
                <a:off x="8799374" y="3049235"/>
                <a:ext cx="195352" cy="213621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300"/>
                  <a:t>货梯</a:t>
                </a:r>
                <a:endParaRPr lang="en-US" altLang="zh-CN" sz="300"/>
              </a:p>
              <a:p>
                <a:pPr algn="ctr"/>
                <a:r>
                  <a:rPr lang="zh-CN" altLang="en-US" sz="300"/>
                  <a:t>客梯</a:t>
                </a:r>
              </a:p>
            </p:txBody>
          </p:sp>
          <p:sp>
            <p:nvSpPr>
              <p:cNvPr id="58" name="流程图: 过程 57">
                <a:extLst>
                  <a:ext uri="{FF2B5EF4-FFF2-40B4-BE49-F238E27FC236}">
                    <a16:creationId xmlns:a16="http://schemas.microsoft.com/office/drawing/2014/main" id="{5D280B65-36FE-5817-1A1C-523EA9499CC5}"/>
                  </a:ext>
                </a:extLst>
              </p:cNvPr>
              <p:cNvSpPr/>
              <p:nvPr/>
            </p:nvSpPr>
            <p:spPr>
              <a:xfrm>
                <a:off x="8811201" y="3616447"/>
                <a:ext cx="798707" cy="284142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600"/>
                  <a:t>物料办公室</a:t>
                </a:r>
              </a:p>
            </p:txBody>
          </p:sp>
          <p:sp>
            <p:nvSpPr>
              <p:cNvPr id="59" name="流程图: 过程 58">
                <a:extLst>
                  <a:ext uri="{FF2B5EF4-FFF2-40B4-BE49-F238E27FC236}">
                    <a16:creationId xmlns:a16="http://schemas.microsoft.com/office/drawing/2014/main" id="{CEF5A177-2BE0-F91A-9D5B-F46E3299EB17}"/>
                  </a:ext>
                </a:extLst>
              </p:cNvPr>
              <p:cNvSpPr/>
              <p:nvPr/>
            </p:nvSpPr>
            <p:spPr>
              <a:xfrm>
                <a:off x="9322256" y="3900590"/>
                <a:ext cx="288712" cy="181883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300"/>
                  <a:t>铜排放置区</a:t>
                </a:r>
              </a:p>
            </p:txBody>
          </p:sp>
          <p:sp>
            <p:nvSpPr>
              <p:cNvPr id="60" name="流程图: 过程 59">
                <a:extLst>
                  <a:ext uri="{FF2B5EF4-FFF2-40B4-BE49-F238E27FC236}">
                    <a16:creationId xmlns:a16="http://schemas.microsoft.com/office/drawing/2014/main" id="{B593EC8C-AAB6-8FAA-298E-AACB192AFA95}"/>
                  </a:ext>
                </a:extLst>
              </p:cNvPr>
              <p:cNvSpPr/>
              <p:nvPr/>
            </p:nvSpPr>
            <p:spPr>
              <a:xfrm>
                <a:off x="8371916" y="4020272"/>
                <a:ext cx="709586" cy="231943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物料周转区</a:t>
                </a:r>
              </a:p>
            </p:txBody>
          </p:sp>
          <p:sp>
            <p:nvSpPr>
              <p:cNvPr id="61" name="流程图: 过程 60">
                <a:extLst>
                  <a:ext uri="{FF2B5EF4-FFF2-40B4-BE49-F238E27FC236}">
                    <a16:creationId xmlns:a16="http://schemas.microsoft.com/office/drawing/2014/main" id="{DA1849E4-2B14-F2EB-4ABA-C22AE6F19AA4}"/>
                  </a:ext>
                </a:extLst>
              </p:cNvPr>
              <p:cNvSpPr/>
              <p:nvPr/>
            </p:nvSpPr>
            <p:spPr>
              <a:xfrm>
                <a:off x="7565299" y="4170938"/>
                <a:ext cx="492533" cy="189324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62" name="流程图: 过程 61">
                <a:extLst>
                  <a:ext uri="{FF2B5EF4-FFF2-40B4-BE49-F238E27FC236}">
                    <a16:creationId xmlns:a16="http://schemas.microsoft.com/office/drawing/2014/main" id="{E2E79D20-59B1-9F1E-2D44-63BAB8F6BD0B}"/>
                  </a:ext>
                </a:extLst>
              </p:cNvPr>
              <p:cNvSpPr/>
              <p:nvPr/>
            </p:nvSpPr>
            <p:spPr>
              <a:xfrm>
                <a:off x="5877725" y="4308862"/>
                <a:ext cx="212318" cy="440063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风能机柜</a:t>
                </a:r>
              </a:p>
            </p:txBody>
          </p:sp>
          <p:sp>
            <p:nvSpPr>
              <p:cNvPr id="63" name="流程图: 过程 62">
                <a:extLst>
                  <a:ext uri="{FF2B5EF4-FFF2-40B4-BE49-F238E27FC236}">
                    <a16:creationId xmlns:a16="http://schemas.microsoft.com/office/drawing/2014/main" id="{BB992639-5317-9118-F681-73C08EA69E7C}"/>
                  </a:ext>
                </a:extLst>
              </p:cNvPr>
              <p:cNvSpPr/>
              <p:nvPr/>
            </p:nvSpPr>
            <p:spPr>
              <a:xfrm>
                <a:off x="6191870" y="4308862"/>
                <a:ext cx="323609" cy="440063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500"/>
                  <a:t>UPS</a:t>
                </a:r>
                <a:r>
                  <a:rPr lang="zh-CN" altLang="en-US" sz="500"/>
                  <a:t>大机机柜</a:t>
                </a:r>
              </a:p>
            </p:txBody>
          </p:sp>
          <p:sp>
            <p:nvSpPr>
              <p:cNvPr id="64" name="流程图: 过程 63">
                <a:extLst>
                  <a:ext uri="{FF2B5EF4-FFF2-40B4-BE49-F238E27FC236}">
                    <a16:creationId xmlns:a16="http://schemas.microsoft.com/office/drawing/2014/main" id="{F38117C5-3A00-9C38-81FE-F57B07AFC7D7}"/>
                  </a:ext>
                </a:extLst>
              </p:cNvPr>
              <p:cNvSpPr/>
              <p:nvPr/>
            </p:nvSpPr>
            <p:spPr>
              <a:xfrm>
                <a:off x="6628039" y="4308862"/>
                <a:ext cx="323609" cy="440063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en-US" altLang="zh-CN" sz="500"/>
                  <a:t>UPS</a:t>
                </a:r>
                <a:r>
                  <a:rPr lang="zh-CN" altLang="en-US" sz="500"/>
                  <a:t>大机机柜</a:t>
                </a:r>
              </a:p>
            </p:txBody>
          </p:sp>
          <p:sp>
            <p:nvSpPr>
              <p:cNvPr id="65" name="流程图: 过程 64">
                <a:extLst>
                  <a:ext uri="{FF2B5EF4-FFF2-40B4-BE49-F238E27FC236}">
                    <a16:creationId xmlns:a16="http://schemas.microsoft.com/office/drawing/2014/main" id="{9398AB2E-F8DC-C49E-BC36-6C97CBAB0D76}"/>
                  </a:ext>
                </a:extLst>
              </p:cNvPr>
              <p:cNvSpPr/>
              <p:nvPr/>
            </p:nvSpPr>
            <p:spPr>
              <a:xfrm>
                <a:off x="7001354" y="4312041"/>
                <a:ext cx="301250" cy="440063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400"/>
                  <a:t>大件物料放置区</a:t>
                </a:r>
              </a:p>
            </p:txBody>
          </p:sp>
          <p:sp>
            <p:nvSpPr>
              <p:cNvPr id="66" name="流程图: 过程 65">
                <a:extLst>
                  <a:ext uri="{FF2B5EF4-FFF2-40B4-BE49-F238E27FC236}">
                    <a16:creationId xmlns:a16="http://schemas.microsoft.com/office/drawing/2014/main" id="{7F2DFC10-F52D-9264-7BB3-07C9F8C76602}"/>
                  </a:ext>
                </a:extLst>
              </p:cNvPr>
              <p:cNvSpPr/>
              <p:nvPr/>
            </p:nvSpPr>
            <p:spPr>
              <a:xfrm>
                <a:off x="5146179" y="4433383"/>
                <a:ext cx="432039" cy="313310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成品投递区</a:t>
                </a:r>
              </a:p>
            </p:txBody>
          </p:sp>
          <p:sp>
            <p:nvSpPr>
              <p:cNvPr id="67" name="流程图: 过程 66">
                <a:extLst>
                  <a:ext uri="{FF2B5EF4-FFF2-40B4-BE49-F238E27FC236}">
                    <a16:creationId xmlns:a16="http://schemas.microsoft.com/office/drawing/2014/main" id="{2030DB3F-9F41-DB4C-6743-BB4808D840DA}"/>
                  </a:ext>
                </a:extLst>
              </p:cNvPr>
              <p:cNvSpPr/>
              <p:nvPr/>
            </p:nvSpPr>
            <p:spPr>
              <a:xfrm>
                <a:off x="2304371" y="2820535"/>
                <a:ext cx="741984" cy="209851"/>
              </a:xfrm>
              <a:prstGeom prst="flowChartProcess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压缩空气房</a:t>
                </a:r>
              </a:p>
            </p:txBody>
          </p:sp>
          <p:sp>
            <p:nvSpPr>
              <p:cNvPr id="68" name="流程图: 过程 67">
                <a:extLst>
                  <a:ext uri="{FF2B5EF4-FFF2-40B4-BE49-F238E27FC236}">
                    <a16:creationId xmlns:a16="http://schemas.microsoft.com/office/drawing/2014/main" id="{43E04A3E-E95E-5E2E-B42B-EDABA9A4A34B}"/>
                  </a:ext>
                </a:extLst>
              </p:cNvPr>
              <p:cNvSpPr/>
              <p:nvPr/>
            </p:nvSpPr>
            <p:spPr>
              <a:xfrm>
                <a:off x="2295609" y="3039161"/>
                <a:ext cx="741984" cy="209851"/>
              </a:xfrm>
              <a:prstGeom prst="flowChartProcess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高压配电房</a:t>
                </a:r>
              </a:p>
            </p:txBody>
          </p:sp>
          <p:sp>
            <p:nvSpPr>
              <p:cNvPr id="69" name="流程图: 过程 68">
                <a:extLst>
                  <a:ext uri="{FF2B5EF4-FFF2-40B4-BE49-F238E27FC236}">
                    <a16:creationId xmlns:a16="http://schemas.microsoft.com/office/drawing/2014/main" id="{DE02BEB6-A368-C03C-9ADB-FDEF13A40EB0}"/>
                  </a:ext>
                </a:extLst>
              </p:cNvPr>
              <p:cNvSpPr/>
              <p:nvPr/>
            </p:nvSpPr>
            <p:spPr>
              <a:xfrm>
                <a:off x="2480631" y="3277304"/>
                <a:ext cx="563508" cy="248181"/>
              </a:xfrm>
              <a:prstGeom prst="flowChartProcess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400"/>
                  <a:t>低压配电房</a:t>
                </a:r>
              </a:p>
            </p:txBody>
          </p:sp>
          <p:sp>
            <p:nvSpPr>
              <p:cNvPr id="70" name="流程图: 过程 69">
                <a:extLst>
                  <a:ext uri="{FF2B5EF4-FFF2-40B4-BE49-F238E27FC236}">
                    <a16:creationId xmlns:a16="http://schemas.microsoft.com/office/drawing/2014/main" id="{F3335F4E-566E-A439-CFAD-9FE27E91A6A2}"/>
                  </a:ext>
                </a:extLst>
              </p:cNvPr>
              <p:cNvSpPr/>
              <p:nvPr/>
            </p:nvSpPr>
            <p:spPr>
              <a:xfrm>
                <a:off x="2302155" y="3562846"/>
                <a:ext cx="741984" cy="377398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500"/>
                  <a:t>供应商维修房</a:t>
                </a:r>
              </a:p>
            </p:txBody>
          </p:sp>
          <p:sp>
            <p:nvSpPr>
              <p:cNvPr id="71" name="流程图: 过程 70">
                <a:extLst>
                  <a:ext uri="{FF2B5EF4-FFF2-40B4-BE49-F238E27FC236}">
                    <a16:creationId xmlns:a16="http://schemas.microsoft.com/office/drawing/2014/main" id="{899F07B8-B0CB-7F28-BE28-93705579486F}"/>
                  </a:ext>
                </a:extLst>
              </p:cNvPr>
              <p:cNvSpPr/>
              <p:nvPr/>
            </p:nvSpPr>
            <p:spPr>
              <a:xfrm>
                <a:off x="2549357" y="2683525"/>
                <a:ext cx="473064" cy="123251"/>
              </a:xfrm>
              <a:prstGeom prst="flowChartProcess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400"/>
                  <a:t>危废库</a:t>
                </a:r>
              </a:p>
            </p:txBody>
          </p:sp>
          <p:sp>
            <p:nvSpPr>
              <p:cNvPr id="72" name="流程图: 过程 71">
                <a:extLst>
                  <a:ext uri="{FF2B5EF4-FFF2-40B4-BE49-F238E27FC236}">
                    <a16:creationId xmlns:a16="http://schemas.microsoft.com/office/drawing/2014/main" id="{566AC978-4F09-674D-6B28-04E411AC7FD2}"/>
                  </a:ext>
                </a:extLst>
              </p:cNvPr>
              <p:cNvSpPr/>
              <p:nvPr/>
            </p:nvSpPr>
            <p:spPr>
              <a:xfrm>
                <a:off x="2309634" y="2683525"/>
                <a:ext cx="216831" cy="123251"/>
              </a:xfrm>
              <a:prstGeom prst="flowChartProcess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300"/>
                  <a:t>库房</a:t>
                </a:r>
              </a:p>
            </p:txBody>
          </p:sp>
          <p:sp>
            <p:nvSpPr>
              <p:cNvPr id="73" name="流程图: 过程 72">
                <a:extLst>
                  <a:ext uri="{FF2B5EF4-FFF2-40B4-BE49-F238E27FC236}">
                    <a16:creationId xmlns:a16="http://schemas.microsoft.com/office/drawing/2014/main" id="{02BEA5AE-97E5-06DF-C6C6-A82BF01ABADD}"/>
                  </a:ext>
                </a:extLst>
              </p:cNvPr>
              <p:cNvSpPr/>
              <p:nvPr/>
            </p:nvSpPr>
            <p:spPr>
              <a:xfrm>
                <a:off x="2301177" y="3029700"/>
                <a:ext cx="165505" cy="495786"/>
              </a:xfrm>
              <a:prstGeom prst="flowChartProcess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endParaRPr lang="zh-CN" altLang="en-US" sz="500"/>
              </a:p>
            </p:txBody>
          </p:sp>
          <p:pic>
            <p:nvPicPr>
              <p:cNvPr id="74" name="图片 73">
                <a:extLst>
                  <a:ext uri="{FF2B5EF4-FFF2-40B4-BE49-F238E27FC236}">
                    <a16:creationId xmlns:a16="http://schemas.microsoft.com/office/drawing/2014/main" id="{94C926FC-A4CA-15C4-631B-D9724B457D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95048" y="4175631"/>
                <a:ext cx="415695" cy="223870"/>
              </a:xfrm>
              <a:prstGeom prst="rect">
                <a:avLst/>
              </a:prstGeom>
              <a:scene3d>
                <a:camera prst="orthographicFront">
                  <a:rot lat="0" lon="21599947" rev="0"/>
                </a:camera>
                <a:lightRig rig="threePt" dir="t"/>
              </a:scene3d>
              <a:sp3d prstMaterial="plastic">
                <a:bevelB h="1270000" prst="hardEdge"/>
              </a:sp3d>
            </p:spPr>
          </p:pic>
          <p:pic>
            <p:nvPicPr>
              <p:cNvPr id="75" name="图片 74">
                <a:extLst>
                  <a:ext uri="{FF2B5EF4-FFF2-40B4-BE49-F238E27FC236}">
                    <a16:creationId xmlns:a16="http://schemas.microsoft.com/office/drawing/2014/main" id="{0D4AACA8-AC14-2A86-BD68-F1D6100ADC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57713" y="2207435"/>
                <a:ext cx="415695" cy="223870"/>
              </a:xfrm>
              <a:prstGeom prst="rect">
                <a:avLst/>
              </a:prstGeom>
              <a:scene3d>
                <a:camera prst="orthographicFront">
                  <a:rot lat="0" lon="21599947" rev="0"/>
                </a:camera>
                <a:lightRig rig="threePt" dir="t"/>
              </a:scene3d>
              <a:sp3d prstMaterial="plastic">
                <a:bevelB h="1270000" prst="hardEdge"/>
              </a:sp3d>
            </p:spPr>
          </p:pic>
          <p:pic>
            <p:nvPicPr>
              <p:cNvPr id="76" name="图片 75">
                <a:extLst>
                  <a:ext uri="{FF2B5EF4-FFF2-40B4-BE49-F238E27FC236}">
                    <a16:creationId xmlns:a16="http://schemas.microsoft.com/office/drawing/2014/main" id="{D852DDD0-14F5-1E30-BE27-CF9305AA71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53002" y="2207435"/>
                <a:ext cx="415695" cy="223870"/>
              </a:xfrm>
              <a:prstGeom prst="rect">
                <a:avLst/>
              </a:prstGeom>
              <a:scene3d>
                <a:camera prst="orthographicFront">
                  <a:rot lat="0" lon="21599947" rev="0"/>
                </a:camera>
                <a:lightRig rig="threePt" dir="t"/>
              </a:scene3d>
              <a:sp3d prstMaterial="plastic">
                <a:bevelB h="1270000" prst="hardEdge"/>
              </a:sp3d>
            </p:spPr>
          </p:pic>
          <p:pic>
            <p:nvPicPr>
              <p:cNvPr id="77" name="图片 76">
                <a:extLst>
                  <a:ext uri="{FF2B5EF4-FFF2-40B4-BE49-F238E27FC236}">
                    <a16:creationId xmlns:a16="http://schemas.microsoft.com/office/drawing/2014/main" id="{88576292-A9EB-835B-0595-3245D89A0D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26038" y="4384023"/>
                <a:ext cx="415695" cy="223870"/>
              </a:xfrm>
              <a:prstGeom prst="rect">
                <a:avLst/>
              </a:prstGeom>
              <a:scene3d>
                <a:camera prst="orthographicFront">
                  <a:rot lat="0" lon="21599947" rev="0"/>
                </a:camera>
                <a:lightRig rig="threePt" dir="t"/>
              </a:scene3d>
              <a:sp3d prstMaterial="plastic">
                <a:bevelB h="1270000" prst="hardEdge"/>
              </a:sp3d>
            </p:spPr>
          </p:pic>
          <p:cxnSp>
            <p:nvCxnSpPr>
              <p:cNvPr id="78" name="直接箭头连接符 77">
                <a:extLst>
                  <a:ext uri="{FF2B5EF4-FFF2-40B4-BE49-F238E27FC236}">
                    <a16:creationId xmlns:a16="http://schemas.microsoft.com/office/drawing/2014/main" id="{BACF17C9-7524-0C2E-745D-DF2A75A6075E}"/>
                  </a:ext>
                </a:extLst>
              </p:cNvPr>
              <p:cNvCxnSpPr/>
              <p:nvPr/>
            </p:nvCxnSpPr>
            <p:spPr>
              <a:xfrm>
                <a:off x="6948955" y="3249012"/>
                <a:ext cx="0" cy="708726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triangle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箭头连接符 78">
                <a:extLst>
                  <a:ext uri="{FF2B5EF4-FFF2-40B4-BE49-F238E27FC236}">
                    <a16:creationId xmlns:a16="http://schemas.microsoft.com/office/drawing/2014/main" id="{189FA6AE-BB9D-A1C6-5A0D-6A8746281C8D}"/>
                  </a:ext>
                </a:extLst>
              </p:cNvPr>
              <p:cNvCxnSpPr/>
              <p:nvPr/>
            </p:nvCxnSpPr>
            <p:spPr>
              <a:xfrm flipH="1">
                <a:off x="4438964" y="3940244"/>
                <a:ext cx="906658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triangle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接箭头连接符 79">
                <a:extLst>
                  <a:ext uri="{FF2B5EF4-FFF2-40B4-BE49-F238E27FC236}">
                    <a16:creationId xmlns:a16="http://schemas.microsoft.com/office/drawing/2014/main" id="{96791889-35E9-756E-AF00-E19FEF3AD80C}"/>
                  </a:ext>
                </a:extLst>
              </p:cNvPr>
              <p:cNvCxnSpPr/>
              <p:nvPr/>
            </p:nvCxnSpPr>
            <p:spPr>
              <a:xfrm>
                <a:off x="4011279" y="3562846"/>
                <a:ext cx="0" cy="343215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triangle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箭头连接符 80">
                <a:extLst>
                  <a:ext uri="{FF2B5EF4-FFF2-40B4-BE49-F238E27FC236}">
                    <a16:creationId xmlns:a16="http://schemas.microsoft.com/office/drawing/2014/main" id="{303814F3-E16C-0B7A-CE11-B70E700F9BE9}"/>
                  </a:ext>
                </a:extLst>
              </p:cNvPr>
              <p:cNvCxnSpPr/>
              <p:nvPr/>
            </p:nvCxnSpPr>
            <p:spPr>
              <a:xfrm flipV="1">
                <a:off x="4011279" y="2859741"/>
                <a:ext cx="0" cy="326071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triangle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5A71103B-EE61-903E-F533-8466D2E28A58}"/>
                  </a:ext>
                </a:extLst>
              </p:cNvPr>
              <p:cNvCxnSpPr/>
              <p:nvPr/>
            </p:nvCxnSpPr>
            <p:spPr>
              <a:xfrm flipH="1" flipV="1">
                <a:off x="4175400" y="2721344"/>
                <a:ext cx="579231" cy="862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triangle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箭头连接符 82">
                <a:extLst>
                  <a:ext uri="{FF2B5EF4-FFF2-40B4-BE49-F238E27FC236}">
                    <a16:creationId xmlns:a16="http://schemas.microsoft.com/office/drawing/2014/main" id="{735FCAB3-3FC2-E45C-BFB2-737506EF8222}"/>
                  </a:ext>
                </a:extLst>
              </p:cNvPr>
              <p:cNvCxnSpPr/>
              <p:nvPr/>
            </p:nvCxnSpPr>
            <p:spPr>
              <a:xfrm flipV="1">
                <a:off x="5207531" y="2737674"/>
                <a:ext cx="761938" cy="862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triangle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箭头连接符 83">
                <a:extLst>
                  <a:ext uri="{FF2B5EF4-FFF2-40B4-BE49-F238E27FC236}">
                    <a16:creationId xmlns:a16="http://schemas.microsoft.com/office/drawing/2014/main" id="{2824D36C-B206-EB5E-1C48-9A15A1AD35AD}"/>
                  </a:ext>
                </a:extLst>
              </p:cNvPr>
              <p:cNvCxnSpPr/>
              <p:nvPr/>
            </p:nvCxnSpPr>
            <p:spPr>
              <a:xfrm>
                <a:off x="7288819" y="3957738"/>
                <a:ext cx="1130017" cy="0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triangle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箭头连接符 84">
                <a:extLst>
                  <a:ext uri="{FF2B5EF4-FFF2-40B4-BE49-F238E27FC236}">
                    <a16:creationId xmlns:a16="http://schemas.microsoft.com/office/drawing/2014/main" id="{7BDA566D-68B8-6374-5814-19E01993E6E3}"/>
                  </a:ext>
                </a:extLst>
              </p:cNvPr>
              <p:cNvCxnSpPr/>
              <p:nvPr/>
            </p:nvCxnSpPr>
            <p:spPr>
              <a:xfrm>
                <a:off x="8740092" y="3238994"/>
                <a:ext cx="0" cy="708726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triangle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箭头连接符 85">
                <a:extLst>
                  <a:ext uri="{FF2B5EF4-FFF2-40B4-BE49-F238E27FC236}">
                    <a16:creationId xmlns:a16="http://schemas.microsoft.com/office/drawing/2014/main" id="{807A50BE-3240-0EFB-1F0E-361CBA9CDF33}"/>
                  </a:ext>
                </a:extLst>
              </p:cNvPr>
              <p:cNvCxnSpPr/>
              <p:nvPr/>
            </p:nvCxnSpPr>
            <p:spPr>
              <a:xfrm flipH="1" flipV="1">
                <a:off x="7518766" y="3087465"/>
                <a:ext cx="579231" cy="862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triangle"/>
              </a:ln>
              <a:effectLst/>
              <a:scene3d>
                <a:camera prst="orthographicFront"/>
                <a:lightRig rig="threePt" dir="t"/>
              </a:scene3d>
              <a:sp3d>
                <a:bevelT w="38100"/>
                <a:bevelB h="1270000"/>
              </a:sp3d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7" name="图片 86">
                <a:extLst>
                  <a:ext uri="{FF2B5EF4-FFF2-40B4-BE49-F238E27FC236}">
                    <a16:creationId xmlns:a16="http://schemas.microsoft.com/office/drawing/2014/main" id="{5F773B7E-F38F-BEEB-7C3A-BC7431C05D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77798" y="2921731"/>
                <a:ext cx="190452" cy="213306"/>
              </a:xfrm>
              <a:prstGeom prst="rect">
                <a:avLst/>
              </a:prstGeom>
              <a:scene3d>
                <a:camera prst="orthographicFront">
                  <a:rot lat="0" lon="21599947" rev="0"/>
                </a:camera>
                <a:lightRig rig="threePt" dir="t"/>
              </a:scene3d>
              <a:sp3d prstMaterial="plastic">
                <a:bevelB h="1270000" prst="hardEdge"/>
              </a:sp3d>
            </p:spPr>
          </p:pic>
          <p:pic>
            <p:nvPicPr>
              <p:cNvPr id="88" name="图片 87">
                <a:extLst>
                  <a:ext uri="{FF2B5EF4-FFF2-40B4-BE49-F238E27FC236}">
                    <a16:creationId xmlns:a16="http://schemas.microsoft.com/office/drawing/2014/main" id="{D3DF5027-FB6E-C996-C42F-835972280A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80252" y="4021630"/>
                <a:ext cx="238125" cy="266700"/>
              </a:xfrm>
              <a:prstGeom prst="rect">
                <a:avLst/>
              </a:prstGeom>
              <a:scene3d>
                <a:camera prst="orthographicFront">
                  <a:rot lat="0" lon="21599947" rev="0"/>
                </a:camera>
                <a:lightRig rig="threePt" dir="t"/>
              </a:scene3d>
              <a:sp3d prstMaterial="plastic">
                <a:bevelB h="1270000" prst="hardEdge"/>
              </a:sp3d>
            </p:spPr>
          </p:pic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051665E-6B7F-FB56-7EF9-2DA28893FDB1}"/>
                </a:ext>
              </a:extLst>
            </p:cNvPr>
            <p:cNvGrpSpPr/>
            <p:nvPr/>
          </p:nvGrpSpPr>
          <p:grpSpPr>
            <a:xfrm>
              <a:off x="3239483" y="4114285"/>
              <a:ext cx="4376564" cy="280800"/>
              <a:chOff x="3263896" y="4206726"/>
              <a:chExt cx="4212234" cy="258369"/>
            </a:xfrm>
            <a:scene3d>
              <a:camera prst="orthographicFront">
                <a:rot lat="0" lon="21599947" rev="0"/>
              </a:camera>
              <a:lightRig rig="threePt" dir="t"/>
            </a:scene3d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070A2C9-4010-A010-19FB-F86F8E8F43B0}"/>
                  </a:ext>
                </a:extLst>
              </p:cNvPr>
              <p:cNvSpPr/>
              <p:nvPr/>
            </p:nvSpPr>
            <p:spPr>
              <a:xfrm>
                <a:off x="3263896" y="4206726"/>
                <a:ext cx="857953" cy="253017"/>
              </a:xfrm>
              <a:prstGeom prst="rect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p3d prstMaterial="plastic">
                <a:bevelT w="38100" prst="angle"/>
                <a:bevelB h="1270000" prst="hardEdge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1050"/>
                  <a:t>低风险</a:t>
                </a: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470D267A-7116-D45B-9447-569D7F834484}"/>
                  </a:ext>
                </a:extLst>
              </p:cNvPr>
              <p:cNvSpPr/>
              <p:nvPr/>
            </p:nvSpPr>
            <p:spPr>
              <a:xfrm>
                <a:off x="4352772" y="4211692"/>
                <a:ext cx="857953" cy="253017"/>
              </a:xfrm>
              <a:prstGeom prst="rect">
                <a:avLst/>
              </a:prstGeom>
              <a:solidFill>
                <a:srgbClr val="FB9500"/>
              </a:solidFill>
              <a:ln w="9525" cap="flat" cmpd="sng" algn="ctr">
                <a:noFill/>
                <a:prstDash val="solid"/>
              </a:ln>
              <a:effectLst/>
              <a:sp3d prstMaterial="plastic">
                <a:bevelT w="38100" prst="angle"/>
                <a:bevelB h="1270000" prst="hardEdge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1050"/>
                  <a:t>一般风险</a:t>
                </a: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11CD566-9467-E079-FFCB-BDB8AE0BB7E9}"/>
                  </a:ext>
                </a:extLst>
              </p:cNvPr>
              <p:cNvSpPr/>
              <p:nvPr/>
            </p:nvSpPr>
            <p:spPr>
              <a:xfrm>
                <a:off x="5442992" y="4212078"/>
                <a:ext cx="857953" cy="253017"/>
              </a:xfrm>
              <a:prstGeom prst="rect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p3d prstMaterial="plastic">
                <a:bevelT w="38100" prst="angle"/>
                <a:bevelB h="1270000" prst="hardEdge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1050"/>
                  <a:t>较大风险</a:t>
                </a: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9AF29584-20A1-2405-1C46-AB1A369AB4D2}"/>
                  </a:ext>
                </a:extLst>
              </p:cNvPr>
              <p:cNvSpPr/>
              <p:nvPr/>
            </p:nvSpPr>
            <p:spPr>
              <a:xfrm>
                <a:off x="6618177" y="4208214"/>
                <a:ext cx="857953" cy="253017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p3d prstMaterial="plastic">
                <a:bevelT w="38100" prst="angle"/>
                <a:bevelB h="1270000" prst="hardEdge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algn="ctr"/>
                <a:r>
                  <a:rPr lang="zh-CN" altLang="en-US" sz="1050"/>
                  <a:t>重大风险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F4D39-85F4-B32A-285C-B984ED136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9" name="加载项 8">
                <a:extLst>
                  <a:ext uri="{FF2B5EF4-FFF2-40B4-BE49-F238E27FC236}">
                    <a16:creationId xmlns:a16="http://schemas.microsoft.com/office/drawing/2014/main" id="{8CEBAD9D-C98C-CB43-CA69-DEABD7A93B9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-46800" y="0"/>
              <a:ext cx="12240000" cy="74124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9" name="加载项 8">
                <a:extLst>
                  <a:ext uri="{FF2B5EF4-FFF2-40B4-BE49-F238E27FC236}">
                    <a16:creationId xmlns:a16="http://schemas.microsoft.com/office/drawing/2014/main" id="{8CEBAD9D-C98C-CB43-CA69-DEABD7A93B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6800" y="0"/>
                <a:ext cx="12240000" cy="74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04F1AED1-A1ED-F4D9-C803-5DC941CF584B}"/>
              </a:ext>
            </a:extLst>
          </p:cNvPr>
          <p:cNvGrpSpPr/>
          <p:nvPr/>
        </p:nvGrpSpPr>
        <p:grpSpPr>
          <a:xfrm>
            <a:off x="3204807" y="1866186"/>
            <a:ext cx="6475150" cy="3125628"/>
            <a:chOff x="2965321" y="683987"/>
            <a:chExt cx="6475150" cy="312562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C8DC74CC-820B-59B5-70C3-7D8011F0D6DF}"/>
                </a:ext>
              </a:extLst>
            </p:cNvPr>
            <p:cNvSpPr/>
            <p:nvPr/>
          </p:nvSpPr>
          <p:spPr>
            <a:xfrm>
              <a:off x="2965321" y="956162"/>
              <a:ext cx="998634" cy="251357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包材放置区</a:t>
              </a: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F3AD642-4847-A1EB-CDB7-EE1E2B7654DD}"/>
                </a:ext>
              </a:extLst>
            </p:cNvPr>
            <p:cNvSpPr/>
            <p:nvPr/>
          </p:nvSpPr>
          <p:spPr>
            <a:xfrm>
              <a:off x="3495834" y="1207518"/>
              <a:ext cx="312807" cy="274922"/>
            </a:xfrm>
            <a:prstGeom prst="rect">
              <a:avLst/>
            </a:prstGeom>
            <a:solidFill>
              <a:srgbClr val="FE5B1B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4#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老化房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A2882F4-5739-79E9-2676-11B45C7DBA6F}"/>
                </a:ext>
              </a:extLst>
            </p:cNvPr>
            <p:cNvSpPr/>
            <p:nvPr/>
          </p:nvSpPr>
          <p:spPr>
            <a:xfrm>
              <a:off x="3495834" y="1482440"/>
              <a:ext cx="312807" cy="155135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2#</a:t>
              </a:r>
              <a:r>
                <a:rPr kumimoji="0" lang="zh-CN" altLang="en-US" sz="3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网络机房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F085F54-B9F6-F29E-160F-3B0B0F35774C}"/>
                </a:ext>
              </a:extLst>
            </p:cNvPr>
            <p:cNvSpPr/>
            <p:nvPr/>
          </p:nvSpPr>
          <p:spPr>
            <a:xfrm>
              <a:off x="3495834" y="1656229"/>
              <a:ext cx="312807" cy="321069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货梯</a:t>
              </a:r>
              <a:endParaRPr kumimoji="0" lang="en-US" altLang="zh-CN" sz="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货梯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7208FA7-BDBD-CA62-9625-EBF311684EBC}"/>
                </a:ext>
              </a:extLst>
            </p:cNvPr>
            <p:cNvSpPr/>
            <p:nvPr/>
          </p:nvSpPr>
          <p:spPr>
            <a:xfrm>
              <a:off x="3495834" y="1999380"/>
              <a:ext cx="312807" cy="983346"/>
            </a:xfrm>
            <a:prstGeom prst="rect">
              <a:avLst/>
            </a:prstGeom>
            <a:solidFill>
              <a:srgbClr val="FE5B1B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3#</a:t>
              </a:r>
              <a:r>
                <a:rPr kumimoji="0" lang="zh-CN" altLang="en-US" sz="5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老化房</a:t>
              </a:r>
              <a:endParaRPr kumimoji="0" lang="en-US" altLang="zh-CN" sz="5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5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2#</a:t>
              </a:r>
              <a:r>
                <a:rPr kumimoji="0" lang="zh-CN" altLang="en-US" sz="5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老化房</a:t>
              </a:r>
              <a:endParaRPr kumimoji="0" lang="en-US" altLang="zh-CN" sz="5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5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5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1#</a:t>
              </a:r>
              <a:r>
                <a:rPr kumimoji="0" lang="zh-CN" altLang="en-US" sz="5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老化房</a:t>
              </a:r>
              <a:endParaRPr kumimoji="0" lang="en-US" altLang="zh-CN" sz="5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C211E0E-2516-6108-3402-9358C1BBAC76}"/>
                </a:ext>
              </a:extLst>
            </p:cNvPr>
            <p:cNvSpPr/>
            <p:nvPr/>
          </p:nvSpPr>
          <p:spPr>
            <a:xfrm>
              <a:off x="3500957" y="3010710"/>
              <a:ext cx="462998" cy="233684"/>
            </a:xfrm>
            <a:prstGeom prst="rect">
              <a:avLst/>
            </a:prstGeom>
            <a:solidFill>
              <a:srgbClr val="FE5B1B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电池测试区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E5ED90F-310C-0EFF-0D0D-03774EEBBFBD}"/>
                </a:ext>
              </a:extLst>
            </p:cNvPr>
            <p:cNvSpPr/>
            <p:nvPr/>
          </p:nvSpPr>
          <p:spPr>
            <a:xfrm>
              <a:off x="4084126" y="3010710"/>
              <a:ext cx="294396" cy="233684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4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厂验休息室</a:t>
              </a: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E6CECB3-AFBA-249D-6BFF-42251E508A5A}"/>
                </a:ext>
              </a:extLst>
            </p:cNvPr>
            <p:cNvSpPr/>
            <p:nvPr/>
          </p:nvSpPr>
          <p:spPr>
            <a:xfrm>
              <a:off x="4378523" y="3010710"/>
              <a:ext cx="777560" cy="233684"/>
            </a:xfrm>
            <a:prstGeom prst="rect">
              <a:avLst/>
            </a:prstGeom>
            <a:solidFill>
              <a:srgbClr val="FB950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装备部作业区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A632BCC-D822-2B2B-7598-2EA7FC0E7767}"/>
                </a:ext>
              </a:extLst>
            </p:cNvPr>
            <p:cNvSpPr/>
            <p:nvPr/>
          </p:nvSpPr>
          <p:spPr>
            <a:xfrm>
              <a:off x="5243914" y="3010710"/>
              <a:ext cx="2227654" cy="233684"/>
            </a:xfrm>
            <a:prstGeom prst="rect">
              <a:avLst/>
            </a:prstGeom>
            <a:solidFill>
              <a:srgbClr val="FB950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维修作业区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AD8C4B2-22F6-056E-D037-CBF94440E22B}"/>
                </a:ext>
              </a:extLst>
            </p:cNvPr>
            <p:cNvSpPr/>
            <p:nvPr/>
          </p:nvSpPr>
          <p:spPr>
            <a:xfrm>
              <a:off x="7559401" y="3010710"/>
              <a:ext cx="816676" cy="233684"/>
            </a:xfrm>
            <a:prstGeom prst="rect">
              <a:avLst/>
            </a:prstGeom>
            <a:solidFill>
              <a:srgbClr val="FB950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拆包区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D42D2FD-EAA9-DFAB-971C-6D16535B585F}"/>
                </a:ext>
              </a:extLst>
            </p:cNvPr>
            <p:cNvSpPr/>
            <p:nvPr/>
          </p:nvSpPr>
          <p:spPr>
            <a:xfrm>
              <a:off x="3918832" y="1956512"/>
              <a:ext cx="551201" cy="321069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小机</a:t>
              </a: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测试区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E6F71C8-9DF9-DD7B-2CC0-6BBB76823058}"/>
                </a:ext>
              </a:extLst>
            </p:cNvPr>
            <p:cNvSpPr/>
            <p:nvPr/>
          </p:nvSpPr>
          <p:spPr>
            <a:xfrm>
              <a:off x="5491930" y="1972652"/>
              <a:ext cx="1810373" cy="321069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中功率测试区    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1F0E9C1-7AF5-A990-0CAC-C2BD89148F16}"/>
                </a:ext>
              </a:extLst>
            </p:cNvPr>
            <p:cNvSpPr/>
            <p:nvPr/>
          </p:nvSpPr>
          <p:spPr>
            <a:xfrm>
              <a:off x="3929887" y="1300959"/>
              <a:ext cx="881054" cy="321069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>
              <a:softEdge rad="25400"/>
            </a:effectLst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包材放置区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8A98E39-E55B-1285-E3CE-8629B3D4E546}"/>
                </a:ext>
              </a:extLst>
            </p:cNvPr>
            <p:cNvSpPr/>
            <p:nvPr/>
          </p:nvSpPr>
          <p:spPr>
            <a:xfrm>
              <a:off x="4810941" y="1300959"/>
              <a:ext cx="603005" cy="321069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半成品暂存区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7307763-8B60-8239-1C26-8AEDFD4DEFF3}"/>
                </a:ext>
              </a:extLst>
            </p:cNvPr>
            <p:cNvSpPr/>
            <p:nvPr/>
          </p:nvSpPr>
          <p:spPr>
            <a:xfrm>
              <a:off x="3929887" y="1637574"/>
              <a:ext cx="1482125" cy="281340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包装区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0B32964-A2C8-5BBB-91C7-13B55D22939C}"/>
                </a:ext>
              </a:extLst>
            </p:cNvPr>
            <p:cNvSpPr/>
            <p:nvPr/>
          </p:nvSpPr>
          <p:spPr>
            <a:xfrm>
              <a:off x="4047484" y="966476"/>
              <a:ext cx="312807" cy="275898"/>
            </a:xfrm>
            <a:prstGeom prst="rect">
              <a:avLst/>
            </a:prstGeom>
            <a:solidFill>
              <a:srgbClr val="FE5B1B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5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电池充电区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E12721D-F123-23A6-6F17-2E8ED901A651}"/>
                </a:ext>
              </a:extLst>
            </p:cNvPr>
            <p:cNvSpPr/>
            <p:nvPr/>
          </p:nvSpPr>
          <p:spPr>
            <a:xfrm>
              <a:off x="4360291" y="966476"/>
              <a:ext cx="238844" cy="275898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" b="1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测试区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68E5842-B662-7D95-EA20-318A882D8A01}"/>
                </a:ext>
              </a:extLst>
            </p:cNvPr>
            <p:cNvSpPr/>
            <p:nvPr/>
          </p:nvSpPr>
          <p:spPr>
            <a:xfrm>
              <a:off x="4599134" y="966475"/>
              <a:ext cx="2022897" cy="275898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半成品放置区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9EC6626-C25F-3C95-A715-B45D9E18363C}"/>
                </a:ext>
              </a:extLst>
            </p:cNvPr>
            <p:cNvSpPr/>
            <p:nvPr/>
          </p:nvSpPr>
          <p:spPr>
            <a:xfrm>
              <a:off x="6670835" y="973513"/>
              <a:ext cx="635178" cy="275898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半成品放置区</a:t>
              </a:r>
            </a:p>
          </p:txBody>
        </p:sp>
        <p:sp>
          <p:nvSpPr>
            <p:cNvPr id="23" name="流程图: 过程 22">
              <a:extLst>
                <a:ext uri="{FF2B5EF4-FFF2-40B4-BE49-F238E27FC236}">
                  <a16:creationId xmlns:a16="http://schemas.microsoft.com/office/drawing/2014/main" id="{478503AE-22D8-7D47-B46A-8F6E6C21BE58}"/>
                </a:ext>
              </a:extLst>
            </p:cNvPr>
            <p:cNvSpPr/>
            <p:nvPr/>
          </p:nvSpPr>
          <p:spPr>
            <a:xfrm>
              <a:off x="7457716" y="956162"/>
              <a:ext cx="1637735" cy="1967320"/>
            </a:xfrm>
            <a:prstGeom prst="flowChartProcess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AI</a:t>
              </a:r>
              <a:r>
                <a: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库房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CF71F4F-782E-CF4F-C6FA-4AFE03588E6B}"/>
                </a:ext>
              </a:extLst>
            </p:cNvPr>
            <p:cNvSpPr/>
            <p:nvPr/>
          </p:nvSpPr>
          <p:spPr>
            <a:xfrm>
              <a:off x="9146075" y="2638590"/>
              <a:ext cx="294396" cy="465583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70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单板测试区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0834E97-DF28-998B-9BA8-06ECC08044E2}"/>
                </a:ext>
              </a:extLst>
            </p:cNvPr>
            <p:cNvSpPr/>
            <p:nvPr/>
          </p:nvSpPr>
          <p:spPr>
            <a:xfrm>
              <a:off x="4465727" y="1956512"/>
              <a:ext cx="948219" cy="321069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中功率测试区    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58CFC253-98E9-3627-81C5-1FA5EC345D33}"/>
                </a:ext>
              </a:extLst>
            </p:cNvPr>
            <p:cNvSpPr/>
            <p:nvPr/>
          </p:nvSpPr>
          <p:spPr>
            <a:xfrm>
              <a:off x="5491930" y="1296019"/>
              <a:ext cx="1810373" cy="178805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流水线</a:t>
              </a: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5-6</a:t>
              </a:r>
              <a:endPara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3C19F96-C831-7D58-08D1-C53DFCA97C06}"/>
                </a:ext>
              </a:extLst>
            </p:cNvPr>
            <p:cNvSpPr/>
            <p:nvPr/>
          </p:nvSpPr>
          <p:spPr>
            <a:xfrm>
              <a:off x="5489345" y="1523015"/>
              <a:ext cx="1818707" cy="389147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机架流水线</a:t>
              </a: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1-2</a:t>
              </a:r>
              <a:endPara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015FA24-EDA9-DA9E-FB38-EC14A501E567}"/>
                </a:ext>
              </a:extLst>
            </p:cNvPr>
            <p:cNvSpPr/>
            <p:nvPr/>
          </p:nvSpPr>
          <p:spPr>
            <a:xfrm>
              <a:off x="3921868" y="2311464"/>
              <a:ext cx="1495114" cy="607713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流水线</a:t>
              </a: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7-10</a:t>
              </a:r>
              <a:endPara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916E9B18-B608-3F16-7192-794899939DA3}"/>
                </a:ext>
              </a:extLst>
            </p:cNvPr>
            <p:cNvSpPr/>
            <p:nvPr/>
          </p:nvSpPr>
          <p:spPr>
            <a:xfrm>
              <a:off x="5494269" y="2312680"/>
              <a:ext cx="1802606" cy="619482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流水线</a:t>
              </a:r>
              <a:r>
                <a: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+mn-cs"/>
                </a:rPr>
                <a:t>1-4</a:t>
              </a:r>
              <a:endParaRPr kumimoji="0" lang="zh-CN" altLang="en-US" sz="105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748634DE-73A7-F649-9D3F-4E1484E62B24}"/>
                </a:ext>
              </a:extLst>
            </p:cNvPr>
            <p:cNvSpPr/>
            <p:nvPr/>
          </p:nvSpPr>
          <p:spPr>
            <a:xfrm>
              <a:off x="6182878" y="966475"/>
              <a:ext cx="405756" cy="275898"/>
            </a:xfrm>
            <a:prstGeom prst="rect">
              <a:avLst/>
            </a:prstGeom>
            <a:solidFill>
              <a:srgbClr val="00B0F0"/>
            </a:solidFill>
            <a:ln w="9525" cap="flat" cmpd="sng" algn="ctr">
              <a:noFill/>
              <a:prstDash val="solid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ysClr val="window" lastClr="FFFFFF"/>
                  </a:solidFill>
                  <a:latin typeface="Arial" panose="020B0604020202020204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+mn-cs"/>
              </a:endParaRPr>
            </a:p>
          </p:txBody>
        </p: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7D60AFBB-8162-2C76-AA86-F0D32471A3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63908" y="3095801"/>
              <a:ext cx="472659" cy="252000"/>
            </a:xfrm>
            <a:prstGeom prst="rect">
              <a:avLst/>
            </a:prstGeom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B h="1270000" prst="hardEdge"/>
            </a:sp3d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3F547756-4946-1978-C6BF-6DC20419B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20038" y="683987"/>
              <a:ext cx="472659" cy="252000"/>
            </a:xfrm>
            <a:prstGeom prst="rect">
              <a:avLst/>
            </a:prstGeom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B h="1270000" prst="hardEdge"/>
            </a:sp3d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D909EB8E-9050-A10F-AD52-08C048A8C7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05796" y="683987"/>
              <a:ext cx="472659" cy="252000"/>
            </a:xfrm>
            <a:prstGeom prst="rect">
              <a:avLst/>
            </a:prstGeom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B h="1270000" prst="hardEdge"/>
            </a:sp3d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39B908C0-5400-7439-62CC-AD082EC01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68599" y="3261149"/>
              <a:ext cx="472659" cy="252000"/>
            </a:xfrm>
            <a:prstGeom prst="rect">
              <a:avLst/>
            </a:prstGeom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B h="1270000" prst="hardEdge"/>
            </a:sp3d>
          </p:spPr>
        </p:pic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B1691757-E968-B1DE-90C9-56F3B5595ADE}"/>
                </a:ext>
              </a:extLst>
            </p:cNvPr>
            <p:cNvCxnSpPr/>
            <p:nvPr/>
          </p:nvCxnSpPr>
          <p:spPr>
            <a:xfrm flipV="1">
              <a:off x="3862794" y="1318236"/>
              <a:ext cx="0" cy="516940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1CE7752E-308C-F24D-42A3-939754A94D61}"/>
                </a:ext>
              </a:extLst>
            </p:cNvPr>
            <p:cNvCxnSpPr/>
            <p:nvPr/>
          </p:nvCxnSpPr>
          <p:spPr>
            <a:xfrm flipV="1">
              <a:off x="5458821" y="1348426"/>
              <a:ext cx="0" cy="516940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C777BF73-1915-19F9-74BF-4BB354B21D0C}"/>
                </a:ext>
              </a:extLst>
            </p:cNvPr>
            <p:cNvCxnSpPr/>
            <p:nvPr/>
          </p:nvCxnSpPr>
          <p:spPr>
            <a:xfrm flipV="1">
              <a:off x="7382884" y="1262771"/>
              <a:ext cx="0" cy="516940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BD31F66F-7EC5-271A-488B-BCB8D3EBE302}"/>
                </a:ext>
              </a:extLst>
            </p:cNvPr>
            <p:cNvCxnSpPr>
              <a:cxnSpLocks/>
            </p:cNvCxnSpPr>
            <p:nvPr/>
          </p:nvCxnSpPr>
          <p:spPr>
            <a:xfrm>
              <a:off x="3862794" y="2178789"/>
              <a:ext cx="0" cy="516042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A27390A6-7A79-C72C-4E95-52DF884D0599}"/>
                </a:ext>
              </a:extLst>
            </p:cNvPr>
            <p:cNvCxnSpPr>
              <a:cxnSpLocks/>
            </p:cNvCxnSpPr>
            <p:nvPr/>
          </p:nvCxnSpPr>
          <p:spPr>
            <a:xfrm>
              <a:off x="7370982" y="2093918"/>
              <a:ext cx="0" cy="516042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40009E2B-6EC7-599A-8865-B9A761E913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15606" y="2967016"/>
              <a:ext cx="523926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BD516AD9-9C65-1C98-2921-4775E73DF0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0047" y="2970158"/>
              <a:ext cx="523926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EEA6430D-1EF7-ABF5-16C0-2D9CBEA3C375}"/>
                </a:ext>
              </a:extLst>
            </p:cNvPr>
            <p:cNvCxnSpPr>
              <a:cxnSpLocks/>
            </p:cNvCxnSpPr>
            <p:nvPr/>
          </p:nvCxnSpPr>
          <p:spPr>
            <a:xfrm>
              <a:off x="5458821" y="2335366"/>
              <a:ext cx="0" cy="516042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C2123BFD-B2A8-B59E-5974-FD5CA9036047}"/>
                </a:ext>
              </a:extLst>
            </p:cNvPr>
            <p:cNvCxnSpPr>
              <a:cxnSpLocks/>
            </p:cNvCxnSpPr>
            <p:nvPr/>
          </p:nvCxnSpPr>
          <p:spPr>
            <a:xfrm>
              <a:off x="6619540" y="2963807"/>
              <a:ext cx="838177" cy="295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D8A32B12-818A-9325-6E98-8AF75DBC73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07031" y="1270880"/>
              <a:ext cx="523926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331A361F-D565-C36A-1857-A7B3EBB75A1F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5822562" y="1261437"/>
              <a:ext cx="523926" cy="0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DA99B47E-06A9-386D-2B4F-A4B0A1F2B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70089" y="1644481"/>
              <a:ext cx="147057" cy="172282"/>
            </a:xfrm>
            <a:prstGeom prst="rect">
              <a:avLst/>
            </a:prstGeom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</p:pic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1927267-C71C-1CE7-F864-BCD01147E1B5}"/>
                </a:ext>
              </a:extLst>
            </p:cNvPr>
            <p:cNvGrpSpPr/>
            <p:nvPr/>
          </p:nvGrpSpPr>
          <p:grpSpPr>
            <a:xfrm>
              <a:off x="3963955" y="3534041"/>
              <a:ext cx="4385963" cy="275574"/>
              <a:chOff x="3963955" y="3599357"/>
              <a:chExt cx="4385963" cy="275574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1C19A2AC-C3FC-86E8-ED88-CBA7D12A6C50}"/>
                  </a:ext>
                </a:extLst>
              </p:cNvPr>
              <p:cNvSpPr/>
              <p:nvPr/>
            </p:nvSpPr>
            <p:spPr>
              <a:xfrm>
                <a:off x="3963955" y="3599357"/>
                <a:ext cx="893338" cy="275574"/>
              </a:xfrm>
              <a:prstGeom prst="rect">
                <a:avLst/>
              </a:prstGeom>
              <a:solidFill>
                <a:srgbClr val="00B0F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>
                  <a:rot lat="0" lon="21599947" rev="0"/>
                </a:camera>
                <a:lightRig rig="threePt" dir="t"/>
              </a:scene3d>
              <a:sp3d prstMaterial="plastic">
                <a:bevelT w="38100" prst="angle"/>
                <a:bevelB h="1270000" prst="hardEdge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/>
                    <a:ea typeface="等线" panose="02010600030101010101" pitchFamily="2" charset="-122"/>
                    <a:cs typeface="+mn-cs"/>
                  </a:rPr>
                  <a:t>低风险</a:t>
                </a: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4B7E464D-27A4-C3EE-9346-DB63DE6E9693}"/>
                  </a:ext>
                </a:extLst>
              </p:cNvPr>
              <p:cNvSpPr/>
              <p:nvPr/>
            </p:nvSpPr>
            <p:spPr>
              <a:xfrm>
                <a:off x="5097741" y="3599357"/>
                <a:ext cx="893338" cy="275574"/>
              </a:xfrm>
              <a:prstGeom prst="rect">
                <a:avLst/>
              </a:prstGeom>
              <a:solidFill>
                <a:srgbClr val="FB95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>
                  <a:rot lat="0" lon="21599947" rev="0"/>
                </a:camera>
                <a:lightRig rig="threePt" dir="t"/>
              </a:scene3d>
              <a:sp3d prstMaterial="plastic">
                <a:bevelT w="38100" prst="angle"/>
                <a:bevelB h="1270000" prst="hardEdge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/>
                    <a:ea typeface="等线" panose="02010600030101010101" pitchFamily="2" charset="-122"/>
                    <a:cs typeface="+mn-cs"/>
                  </a:rPr>
                  <a:t>一般风险</a:t>
                </a: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10368C86-32B2-3DFC-1263-3ECB9FFE7736}"/>
                  </a:ext>
                </a:extLst>
              </p:cNvPr>
              <p:cNvSpPr/>
              <p:nvPr/>
            </p:nvSpPr>
            <p:spPr>
              <a:xfrm>
                <a:off x="6232926" y="3599357"/>
                <a:ext cx="893338" cy="275574"/>
              </a:xfrm>
              <a:prstGeom prst="rect">
                <a:avLst/>
              </a:prstGeom>
              <a:solidFill>
                <a:srgbClr val="FE5B1B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>
                  <a:rot lat="0" lon="21599947" rev="0"/>
                </a:camera>
                <a:lightRig rig="threePt" dir="t"/>
              </a:scene3d>
              <a:sp3d prstMaterial="plastic">
                <a:bevelT w="38100" prst="angle"/>
                <a:bevelB h="1270000" prst="hardEdge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/>
                    <a:ea typeface="等线" panose="02010600030101010101" pitchFamily="2" charset="-122"/>
                    <a:cs typeface="+mn-cs"/>
                  </a:rPr>
                  <a:t>较大风险</a:t>
                </a: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CEE41AAC-C9D8-8C7D-4ECA-B45F332A0E2F}"/>
                  </a:ext>
                </a:extLst>
              </p:cNvPr>
              <p:cNvSpPr/>
              <p:nvPr/>
            </p:nvSpPr>
            <p:spPr>
              <a:xfrm>
                <a:off x="7456580" y="3599357"/>
                <a:ext cx="893338" cy="275574"/>
              </a:xfrm>
              <a:prstGeom prst="rect">
                <a:avLst/>
              </a:prstGeom>
              <a:solidFill>
                <a:srgbClr val="FF0000"/>
              </a:solidFill>
              <a:ln w="9525" cap="flat" cmpd="sng" algn="ctr">
                <a:noFill/>
                <a:prstDash val="solid"/>
              </a:ln>
              <a:effectLst/>
              <a:scene3d>
                <a:camera prst="orthographicFront">
                  <a:rot lat="0" lon="21599947" rev="0"/>
                </a:camera>
                <a:lightRig rig="threePt" dir="t"/>
              </a:scene3d>
              <a:sp3d prstMaterial="plastic">
                <a:bevelT w="38100" prst="angle"/>
                <a:bevelB h="1270000" prst="hardEdge"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ysClr val="window" lastClr="FFFFFF"/>
                    </a:solidFill>
                    <a:latin typeface="Arial" panose="020B0604020202020204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Arial" panose="020B0604020202020204"/>
                    <a:ea typeface="等线" panose="02010600030101010101" pitchFamily="2" charset="-122"/>
                    <a:cs typeface="+mn-cs"/>
                  </a:rPr>
                  <a:t>重大风险</a:t>
                </a:r>
              </a:p>
            </p:txBody>
          </p:sp>
        </p:grp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16F2D7C1-A13B-5E3B-934F-CD2FE7FB21E4}"/>
                </a:ext>
              </a:extLst>
            </p:cNvPr>
            <p:cNvCxnSpPr>
              <a:cxnSpLocks/>
            </p:cNvCxnSpPr>
            <p:nvPr/>
          </p:nvCxnSpPr>
          <p:spPr>
            <a:xfrm>
              <a:off x="7984194" y="2966652"/>
              <a:ext cx="838177" cy="295"/>
            </a:xfrm>
            <a:prstGeom prst="straightConnector1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/>
            </a:ln>
            <a:effectLst/>
            <a:scene3d>
              <a:camera prst="orthographicFront">
                <a:rot lat="0" lon="21599947" rev="0"/>
              </a:camera>
              <a:lightRig rig="threePt" dir="t"/>
            </a:scene3d>
            <a:sp3d prstMaterial="plastic">
              <a:bevelT w="38100" prst="angle"/>
              <a:bevelB h="1270000" prst="hardEdge"/>
            </a:sp3d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48093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FE3E1C7-993A-455B-9388-DC919093971A}">
  <we:reference id="wa200003233" version="2.0.0.3" store="zh-CN" storeType="OMEX"/>
  <we:alternateReferences>
    <we:reference id="WA200003233" version="2.0.0.3" store="WA200003233" storeType="OMEX"/>
  </we:alternateReferences>
  <we:properties>
    <we:property name="pptInsertionSessionID" value="&quot;6E5C7293-1933-4387-928C-362E9724ABF6&quot;"/>
    <we:property name="embedUrl" value="&quot;/reportEmbed?reportId=83e7d6b2-050b-4c7e-b1b7-bb9afe269463&amp;config=eyJjbHVzdGVyVXJsIjoiaHR0cHM6Ly9XQUJJLVVTLU5PUlRILUNFTlRSQUwtRC1QUklNQVJZLXJlZGlyZWN0LmFuYWx5c2lzLndpbmRvd3MubmV0IiwiZW1iZWRGZWF0dXJlcyI6eyJ1c2FnZU1ldHJpY3NWTmV4dCI6dHJ1ZX19&amp;disableSensitivityBanner=true&amp;storytellingChangeViewModeShortcutKeys=true&quot;"/>
    <we:property name="bookmark" value="&quot;H4sIAAAAAAAAA+1aW28bxxX+KwJf8kIUM7OX2fGbIiuOAVsxJMOpUfhhLmeoTVdcYrl0pAgCjBaOrTqNk4fERpvEdS6OWkCq2/RmKXb/jEiKT/kLndklbYmiRIqiJLoIAQHa2Zlz/c6Zc2Z2uaDCaiXiSzN8AQrnCtvPnjTXX0w4hWKhnI9Q7PrcJRxTzASn2Pdc+zaupGFcrhbOLRdSnpQgvRZWazyyZMzgr24UCzyKrvCSfdI8qkKxUIGkGpd5FH4A+WTzKk1qsFIswGIlihNuSc6lPAVL9qaZbp6NCPgXliOXaXgT5kCm+ajHiEaIaKqZdBD3kOB2WjWfkEnWc4olnbGfisspD8uGjR3jmmkGREOAEZYuCgJJ7Xg1LJeitsCv1l5dqljjhAtGQ2sN8Z5ha+msrBh1FPXB8HWAuAHytI89IuxaHUZpm51Yml6sJMZSxn45rSmjdylOQmn4ZBZJoJobYLkwFUe1hey/6T3jc3EtkTALOntVTsN0yVBqbv2z9fAHgoi3vblZ//Rhc+sfO4/XClayK0ls3JDNav12rfVgrblxq/n90+zdfPz+VAJGClU4h1aKLwWbVDd5WZrRbqkuA6/WEhhUrPrGav322vnJX/YQZufxR9v/2WyuPW88+q71YKP19cPGZ72kumFGDvWIzCw1Nc+TdK9fOgAyTN/bBZG21ZcyT5yCmW9kAKGIMs4REy6VTHnYALM/QA70w9HEPm/jq0vIyyYU5mdqCwKSM4dC49ZW6w+fNH7zTW8EnK4wuST12z+0Hqw3P74zDCIjk2KmolrVOBZU7qqpeEHEPTEaJwqSN3M0ng+TTrIjxS5NTs7eKzdGHyn9IdcOC48ppT0puOaO8AGE4qcVFlPXiffOlbmJ3FT1R892NtbrGx817n7S8ftum31xd3vr+XDonCyVEijxtP04fVoyT0z89OPdfI5xuUlZxt8//biaTXurVm4jDb1WOl2+bnX699/zCUfQqW/UcjP3WBE69m4+iUAfLojy4CdY+IGAwOQAyalW0qMwfPCP0PxXncaj+417q/U/vtinwmdPW3fuHyWERlflHSLW9ua97a1/Nf+2Vf/q3lBFVNd2NSZxMIQjTgLkgxs+BzYHbfcyJiQAkQ4wHJB9wM77r+WC1IQoswMK33QsHg+Ui5Edb3djPV8Xx6g8MwNHidIkTOcXIA2lfboEOj3b1Gl/e1+/QpNnH2fD0nwm45w0y9T0zTx6xiX195U/E9v25/bhHbOQp7FxldPtSDxAkuCJar/a1wD7xMCdEcaVkBpcLZQ4Rn8zQvQebMez7DKam39qrH/T+Pgvjc+fHybVsXwifYcgSjkXwAPBwPcxHQufXJ2dHbmuRHASQKClT00dIRTFeCx0bePv2z8Pe7xxiNLUqOxr4JQIQTnlAZVjorQp0LMO+uXGYUvU3z9urt5pPHzR/HazU5+O0BhgfsrzgCtCPQzaA+pbAocSTGExFfFij3yGlRQKYQSaEsqEC8rtS41niffNWpoaw/WAqNJOgCQQBShgTDn5EdAxSBIKSCBPIUDSR75wGXjHIFnsnA3bNQuxsrPnQ6WgXMjYsUBIxnzXJBPfcR1CwGV92fU4Me3HBweYEeyyQAdcigBzIvXwuD7pw7K+qK1GoTQrd5ugsABJKQu1EpTNnhxlmlRyliFUX2m7979rnSNyU3W/lcQL2bL2Sb7VfK8axUIuAbJF8bvzYIM7K37LKuzUKhe7LFMdvD7OHzLOhx/1FAvXeFTLrgkM7Uthmmu8nA+b+eySnWaLZ/tnFyie8h42ycGynHk4KyD303rjvFmh4vfLb1gwZRQP6AheCnUSp1v9MO64AfU8E7IBKLsxU66OkbuPL/914D+DeyBwty3VH9X2ouD1B3ZH3b6IdjnhNADmKCaly6l0xvmK43jAfu28eNT0xBUlHpcBwqabQ9QTgX+aF5q9VHgX4NcXy5kil0xLE/3s1B4WGcSzEkAS6SAtGNKmY3dO07ONz5+2L0iHuaP+P3bw0QzT38+auhx7iLMg8AB85Aq3f7tRneeVIxbrLHCA+dpFjJgWBHmSEtKXz4F9lwElJooIhAFxzJmDtRqeGnWE5kLqQHscGGKm9/IOxnr7xFUjz7QcDuNgL+yRUJ4Lr05c90bCYMWLce3u8qXb04NUMjNxuh9IoyhvrGx9oNa30CnXoqhT5+TQPLsMcbp3l43VW40vVvNTjn1nfN//tX73wxHcTI7p5cwwup/E7cxRE2eWGLSkCkuTHDFlWGsHu8EpboLbz560vvx6Z/1J/dPf7Ts7+/B2fePZMHtfykUE04sDQgN3Q+MEVMj3SV/hQJs8jDxPK0k48gaoOMb526cRBtHli5Mz1ydnLnTLeCGO1YQBnJyfmO2ocLwskn2VNCapY2itz/JbJdeUy8gjPCAcm3rKlAbqkGLiBG7/87vmxv37O//dt2fvGh1F1sgU7vpo9kIS1yqZmpL4nuDSFzTgmCHfh7yADqtv54Vh/gFwTqVXIR7X0mqFS7jCy9CjIDdm4mUFqk9RnjF5WY+vrPwPDZMDM9ssAAA=&quot;"/>
    <we:property name="datasetId" value="&quot;7de76cb9-3678-48d4-bdbf-c829a566486e&quot;"/>
    <we:property name="pageName" value="&quot;592f002f7f9c30a50ba3&quot;"/>
    <we:property name="reportUrl" value="&quot;/links/wyTDIPZXJM?ctid=74fe92c5-ef57-4d1a-a0e7-9451117d9272&amp;bookmarkGuid=9b39a41e-9fe2-423c-837a-eaed79f4df17&quot;"/>
    <we:property name="reportName" value="&quot;安全看板Ultimate&quot;"/>
    <we:property name="reportState" value="&quot;CONNECTED&quot;"/>
    <we:property name="pageDisplayName" value="&quot;6副本 的副本&quot;"/>
    <we:property name="backgroundColor" value="&quot;#FFFFFF&quot;"/>
    <we:property name="initialStateBookmark" value="&quot;H4sIAAAAAAAAA+1aW28bxxX+K8K+5IUoZmev4zdZVlwjlmxIhhOjMIq5nCE3XXKJ5dKRKggwWji24jROHhIbbVrXSeqoBaS6TW+WYvfPiKT4lL/QmV3SlihKS5GURBchIEA7O5dz+c6Z78zsiiGCWjWky/O0DMY5Y+f509bGyynLKBiVrOX8lSvvzE0vvPPz+em5WdUcVZMgqtSMcytGQuMiJNeDWp2Gerxq/NnNgkHD8Cot6idJwxoUjCrEtahCw+CXkHVWr5K4DqsFA5aqYRRTPeViQhPQ095S3dWzWtv8iRaE8iS4BYvAk6zVIVgihKUnCbcQdRCjulst65BK1reLnjpdfiaqJDSoqGV0G5VEEsASfBOZ3Ea+zz3dXgsqxbAj8Oux15ar2ipBWWmorcHeV8vqeVZXlTrCc0GtawG2feRI13Qw02NlECad5djy7FI1VpZS9svmmlF6F6M44Gqd1CIx1DIDrBgzUVgvp//N7mtfjOoxhwWQ6atKEiTLaqbW9j/bj77DCDs7W1uNzx61tv+x+2Td0JJdjSPlhrRX+9fr7Yfrrc3brW+fpe9K0QczMSgphHEOrRZeCTYtbtEKV629Us0BrdVjGFSsxuZa4876hen3+giz++Tjnf9stdZfNB//qf1ws/3Vo+bn/aS6qVqO9AhPLTVTonGy3y9dAKlF398DkY7Vl1NPnIKZb6YA8ZBHKEWE2R4nwjEVMPMBcqgfjif2BR1fPULOqVAozdfLDOIzh0Lz9nb7t582f/V1fwScrjCZJI0737UfbrQ+uTsMIkOVYmbCek05FkTmqpmozKK+GI1iAfH5DI0Xgrib7HChR5OTs/fqzfFHSj7kOmHhECGkwxmV1GIuABP0tMJi5gZ2rlxdnMpM1Xj8fHdzo7H5cfPep12/77XZl/d2tl8Mh87pYjGGIk06j7OnJfPU1A/f38v6KJerlKX8/cP3a2m3t+uVDtLQG6XT3A2t07//nnU4hk65UUtV35EidOLdfBKBPlwQZcGPTeb6DHyVAzj1pOCOB8MH/xjNf81qPn7QvL/W+N3LAyp8/qx998FxQmh8LO8IsXa27u9s/6v1t+3GH+4PRaJ6tqsJiYMhHHESIB/c8BmwKUi9lxHGATC3gJg+PgDsrPBaMbjEWKgdkLmqYnGoL2wT6fZOGdb3dWGC6JlqOE6UxkFSKkMScP10GWRytqlT//a/fo0mRz8uBMVSKuMiV8PE7K0seiYl9efKn4qt63P9cEUNpEmkXGX1OtIcIEnQWHReHSiAXazgTjChgnEJtmSCjVDfjBG9h9vxLKuM1tYfmxtfNz/5S/OLF0dJNZJPuGth5HmUMqA+I+C6pjcRPrm2sDB2XTGj2AdfctdTPIIJzzQnQtcO/r7587DHG0co7SmVXQnUw4x51KO+xydEaUXQ0wr61cahKepvnrTW7jYfvWx9s9Xlp2M0BqifcBygAnuOCdIBz9UTHDlhAksJi5b65DNTcCaQiUB62CPMBmHnzkbTxHu+niTKcH0gKqTlIw5YAPIJEVZ2BDTClNgDxJAjECDuIpfZBJwRpix0D4X1mHIkdO9SIARUjHQ54jNOiGurZOJatoUx2CR3uT4npnnrmL5JsGkTX/qUM9+kmMvhcX3Sh2W5qK2FAVcj95rAKENcTEOtCBW1J4epJtVsyQBqr7Xd/9/17hG5Yt1vx1E5HdY5wtea71ejYGQSIE2K3y2BDu6U/FZE0OUql3osUxucH2cP6cpHH/UUjOs0rKfXBGruy0GSabySNav+5LLupsmz/tMDBE1oH5tkYFlJPZwSyINzvXVBjRDRB5W3NJjSGQ+pCF4JdRKnW3kYt2zfcxwVsj4IvTF7VIyQu0eX/wbQH8E9ELg7lspHtb4oePOB3VU3F9E2xdTzgViCcG5Tj1uTfMUxGrDfOC8eNz1R4WGHch+ZqppDnsN89zQvNPup8C7ALy5VUkUuq5Im/NGpfSwyiGc5AMfcQpIRJFXFbp2mZ5tfPOtckA5zR/1/7ODjGSbfz9KzqekgSnzfAXCRzez8cqNWotVjknXiW0BcaSOCVQmCHO5hnLvOoXWXAqWJBWbIBERNSixTiuFn8ywmKePSlw4FgoiqvZzDsd45cZXIUSWHRSjoC3vEhGPD6xPX/ZEwGHlRrt1LX3o9PQiTmY+Sg0AaB73RsuVALZfoVOph2OU5GTTPLkOc7t1lc+1288u17JTjwBnft39t3PtwDDeTE3o5M4zuJ3E7c9zEmSYGyT1hcpUcTY+YUlqm7Z/iJrjz/Gn791/tbjxtfPbRgbOzD+80Np8Ps/cllIUwuzQgNMxeaJyACtk+6QrTlyoPI8eRgmOKnAEYxyR/+zTGIJq7ND1/Y3r+Yq+MF6NITCnA8dLUQleF0bJI+lXShKSOobU+y2+VbEWXkYOpj6mp+JSiBuIIMnECt//ZXXPzwYPd/x7Ys/e0jiNrpAr3fDR7MY7q1VRNjl2HUe4yz6cmQa4LGYEOaj/NiGH2AXA2Sz8iHtWTWpVyuEor0IeQKzPRigCRQ8rTRYyuqIFSI2eA/vb4FX9fXf0f7uNrHgQtAAA=&quot;"/>
    <we:property name="isFooterCollapsed" value="true"/>
    <we:property name="isFiltersActionButtonVisible" value="false"/>
    <we:property name="isVisualContainerHeaderHidden" value="false"/>
    <we:property name="reportEmbeddedTime" value="&quot;2025-10-10T01:08:39.586Z&quot;"/>
    <we:property name="creatorTenantId" value="&quot;74fe92c5-ef57-4d1a-a0e7-9451117d9272&quot;"/>
    <we:property name="creatorUserId" value="&quot;10032004A5E23658&quot;"/>
    <we:property name="creatorSessionId" value="&quot;f1b0cb7a-ac64-4e5a-ac8a-8a90a8f0f83d&quot;"/>
    <we:property name="artifactViewState" value="&quot;liv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FE3E1C7-993A-455B-9388-DC919093971A}">
  <we:reference id="wa200003233" version="2.0.0.3" store="zh-CN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1aW28bxxX+KwJf8kIUM7OX2fGbIiuOAVsxJMOpUfhhLmeoTVdcYrl0pAgCjBaOrTqNk4fERpvEdS6OWkCq2/RmKXb/jEiKT/kLndklbYmiRIqiJLoIAQHa2Zlz/c6Zc2Z2uaDCaiXiSzN8AQrnCtvPnjTXX0w4hWKhnI9Q7PrcJRxTzASn2Pdc+zaupGFcrhbOLRdSnpQgvRZWazyyZMzgr24UCzyKrvCSfdI8qkKxUIGkGpd5FH4A+WTzKk1qsFIswGIlihNuSc6lPAVL9qaZbp6NCPgXliOXaXgT5kCm+ajHiEaIaKqZdBD3kOB2WjWfkEnWc4olnbGfisspD8uGjR3jmmkGREOAEZYuCgJJ7Xg1LJeitsCv1l5dqljjhAtGQ2sN8Z5ha+msrBh1FPXB8HWAuAHytI89IuxaHUZpm51Yml6sJMZSxn45rSmjdylOQmn4ZBZJoJobYLkwFUe1hey/6T3jc3EtkTALOntVTsN0yVBqbv2z9fAHgoi3vblZ//Rhc+sfO4/XClayK0ls3JDNav12rfVgrblxq/n90+zdfPz+VAJGClU4h1aKLwWbVDd5WZrRbqkuA6/WEhhUrPrGav322vnJX/YQZufxR9v/2WyuPW88+q71YKP19cPGZ72kumFGDvWIzCw1Nc+TdK9fOgAyTN/bBZG21ZcyT5yCmW9kAKGIMs4REy6VTHnYALM/QA70w9HEPm/jq0vIyyYU5mdqCwKSM4dC49ZW6w+fNH7zTW8EnK4wuST12z+0Hqw3P74zDCIjk2KmolrVOBZU7qqpeEHEPTEaJwqSN3M0ng+TTrIjxS5NTs7eKzdGHyn9IdcOC48ppT0puOaO8AGE4qcVFlPXiffOlbmJ3FT1R892NtbrGx817n7S8ftum31xd3vr+XDonCyVEijxtP04fVoyT0z89OPdfI5xuUlZxt8//biaTXurVm4jDb1WOl2+bnX699/zCUfQqW/UcjP3WBE69m4+iUAfLojy4CdY+IGAwOQAyalW0qMwfPCP0PxXncaj+417q/U/vtinwmdPW3fuHyWERlflHSLW9ua97a1/Nf+2Vf/q3lBFVNd2NSZxMIQjTgLkgxs+BzYHbfcyJiQAkQ4wHJB9wM77r+WC1IQoswMK33QsHg+Ui5Edb3djPV8Xx6g8MwNHidIkTOcXIA2lfboEOj3b1Gl/e1+/QpNnH2fD0nwm45w0y9T0zTx6xiX195U/E9v25/bhHbOQp7FxldPtSDxAkuCJar/a1wD7xMCdEcaVkBpcLZQ4Rn8zQvQebMez7DKam39qrH/T+Pgvjc+fHybVsXwifYcgSjkXwAPBwPcxHQufXJ2dHbmuRHASQKClT00dIRTFeCx0bePv2z8Pe7xxiNLUqOxr4JQIQTnlAZVjorQp0LMO+uXGYUvU3z9urt5pPHzR/HazU5+O0BhgfsrzgCtCPQzaA+pbAocSTGExFfFij3yGlRQKYQSaEsqEC8rtS41niffNWpoaw/WAqNJOgCQQBShgTDn5EdAxSBIKSCBPIUDSR75wGXjHIFnsnA3bNQuxsrPnQ6WgXMjYsUBIxnzXJBPfcR1CwGV92fU4Me3HBweYEeyyQAdcigBzIvXwuD7pw7K+qK1GoTQrd5ugsABJKQu1EpTNnhxlmlRyliFUX2m7979rnSNyU3W/lcQL2bL2Sb7VfK8axUIuAbJF8bvzYIM7K37LKuzUKhe7LFMdvD7OHzLOhx/1FAvXeFTLrgkM7Uthmmu8nA+b+eySnWaLZ/tnFyie8h42ycGynHk4KyD303rjvFmh4vfLb1gwZRQP6AheCnUSp1v9MO64AfU8E7IBKLsxU66OkbuPL/914D+DeyBwty3VH9X2ouD1B3ZH3b6IdjnhNADmKCaly6l0xvmK43jAfu28eNT0xBUlHpcBwqabQ9QTgX+aF5q9VHgX4NcXy5kil0xLE/3s1B4WGcSzEkAS6SAtGNKmY3dO07ONz5+2L0iHuaP+P3bw0QzT38+auhx7iLMg8AB85Aq3f7tRneeVIxbrLHCA+dpFjJgWBHmSEtKXz4F9lwElJooIhAFxzJmDtRqeGnWE5kLqQHscGGKm9/IOxnr7xFUjz7QcDuNgL+yRUJ4Lr05c90bCYMWLce3u8qXb04NUMjNxuh9IoyhvrGx9oNa30CnXoqhT5+TQPLsMcbp3l43VW40vVvNTjn1nfN//tX73wxHcTI7p5cwwup/E7cxRE2eWGLSkCkuTHDFlWGsHu8EpboLbz560vvx6Z/1J/dPf7Ts7+/B2fePZMHtfykUE04sDQgN3Q+MEVMj3SV/hQJs8jDxPK0k48gaoOMb526cRBtHli5Mz1ydnLnTLeCGO1YQBnJyfmO2ocLwskn2VNCapY2itz/JbJdeUy8gjPCAcm3rKlAbqkGLiBG7/87vmxv37O//dt2fvGh1F1sgU7vpo9kIS1yqZmpL4nuDSFzTgmCHfh7yADqtv54Vh/gFwTqVXIR7X0mqFS7jCy9CjIDdm4mUFqk9RnjF5WY+vrPwPDZMDM9ssAAA=&quot;"/>
    <we:property name="creatorSessionId" value="&quot;f1b0cb7a-ac64-4e5a-ac8a-8a90a8f0f83d&quot;"/>
    <we:property name="creatorTenantId" value="&quot;74fe92c5-ef57-4d1a-a0e7-9451117d9272&quot;"/>
    <we:property name="creatorUserId" value="&quot;10032004A5E23658&quot;"/>
    <we:property name="datasetId" value="&quot;7de76cb9-3678-48d4-bdbf-c829a566486e&quot;"/>
    <we:property name="embedUrl" value="&quot;/reportEmbed?reportId=83e7d6b2-050b-4c7e-b1b7-bb9afe269463&amp;config=eyJjbHVzdGVyVXJsIjoiaHR0cHM6Ly9XQUJJLVVTLU5PUlRILUNFTlRSQUwtRC1QUklNQVJZLXJlZGlyZWN0LmFuYWx5c2lzLndpbmRvd3MubmV0IiwiZW1iZWRGZWF0dXJlcyI6eyJ1c2FnZU1ldHJpY3NWTmV4dCI6dHJ1ZX19&amp;disableSensitivityBanner=true&amp;storytellingChangeViewModeShortcutKeys=true&quot;"/>
    <we:property name="initialStateBookmark" value="&quot;H4sIAAAAAAAAA+1aW28bxxX+K8K+5IUoZmev4zdZVlwjlmxIhhOjMIq5nCE3XXKJ5dKRKggwWji24jROHhIbbVrXSeqoBaS6TW+WYvfPiKT4lL/QmV3SlihKS5GURBchIEA7O5dz+c6Z78zsiiGCWjWky/O0DMY5Y+f509bGyynLKBiVrOX8lSvvzE0vvPPz+em5WdUcVZMgqtSMcytGQuMiJNeDWp2Gerxq/NnNgkHD8Cot6idJwxoUjCrEtahCw+CXkHVWr5K4DqsFA5aqYRRTPeViQhPQ095S3dWzWtv8iRaE8iS4BYvAk6zVIVgihKUnCbcQdRCjulst65BK1reLnjpdfiaqJDSoqGV0G5VEEsASfBOZ3Ea+zz3dXgsqxbAj8Oux15ar2ipBWWmorcHeV8vqeVZXlTrCc0GtawG2feRI13Qw02NlECad5djy7FI1VpZS9svmmlF6F6M44Gqd1CIx1DIDrBgzUVgvp//N7mtfjOoxhwWQ6atKEiTLaqbW9j/bj77DCDs7W1uNzx61tv+x+2Td0JJdjSPlhrRX+9fr7Yfrrc3brW+fpe9K0QczMSgphHEOrRZeCTYtbtEKV629Us0BrdVjGFSsxuZa4876hen3+giz++Tjnf9stdZfNB//qf1ws/3Vo+bn/aS6qVqO9AhPLTVTonGy3y9dAKlF398DkY7Vl1NPnIKZb6YA8ZBHKEWE2R4nwjEVMPMBcqgfjif2BR1fPULOqVAozdfLDOIzh0Lz9nb7t582f/V1fwScrjCZJI0737UfbrQ+uTsMIkOVYmbCek05FkTmqpmozKK+GI1iAfH5DI0Xgrib7HChR5OTs/fqzfFHSj7kOmHhECGkwxmV1GIuABP0tMJi5gZ2rlxdnMpM1Xj8fHdzo7H5cfPep12/77XZl/d2tl8Mh87pYjGGIk06j7OnJfPU1A/f38v6KJerlKX8/cP3a2m3t+uVDtLQG6XT3A2t07//nnU4hk65UUtV35EidOLdfBKBPlwQZcGPTeb6DHyVAzj1pOCOB8MH/xjNf81qPn7QvL/W+N3LAyp8/qx998FxQmh8LO8IsXa27u9s/6v1t+3GH+4PRaJ6tqsJiYMhHHESIB/c8BmwKUi9lxHGATC3gJg+PgDsrPBaMbjEWKgdkLmqYnGoL2wT6fZOGdb3dWGC6JlqOE6UxkFSKkMScP10GWRytqlT//a/fo0mRz8uBMVSKuMiV8PE7K0seiYl9efKn4qt63P9cEUNpEmkXGX1OtIcIEnQWHReHSiAXazgTjChgnEJtmSCjVDfjBG9h9vxLKuM1tYfmxtfNz/5S/OLF0dJNZJPuGth5HmUMqA+I+C6pjcRPrm2sDB2XTGj2AdfctdTPIIJzzQnQtcO/r7587DHG0co7SmVXQnUw4x51KO+xydEaUXQ0wr61cahKepvnrTW7jYfvWx9s9Xlp2M0BqifcBygAnuOCdIBz9UTHDlhAksJi5b65DNTcCaQiUB62CPMBmHnzkbTxHu+niTKcH0gKqTlIw5YAPIJEVZ2BDTClNgDxJAjECDuIpfZBJwRpix0D4X1mHIkdO9SIARUjHQ54jNOiGurZOJatoUx2CR3uT4npnnrmL5JsGkTX/qUM9+kmMvhcX3Sh2W5qK2FAVcj95rAKENcTEOtCBW1J4epJtVsyQBqr7Xd/9/17hG5Yt1vx1E5HdY5wtea71ejYGQSIE2K3y2BDu6U/FZE0OUql3osUxucH2cP6cpHH/UUjOs0rKfXBGruy0GSabySNav+5LLupsmz/tMDBE1oH5tkYFlJPZwSyINzvXVBjRDRB5W3NJjSGQ+pCF4JdRKnW3kYt2zfcxwVsj4IvTF7VIyQu0eX/wbQH8E9ELg7lspHtb4oePOB3VU3F9E2xdTzgViCcG5Tj1uTfMUxGrDfOC8eNz1R4WGHch+ZqppDnsN89zQvNPup8C7ALy5VUkUuq5Im/NGpfSwyiGc5AMfcQpIRJFXFbp2mZ5tfPOtckA5zR/1/7ODjGSbfz9KzqekgSnzfAXCRzez8cqNWotVjknXiW0BcaSOCVQmCHO5hnLvOoXWXAqWJBWbIBERNSixTiuFn8ywmKePSlw4FgoiqvZzDsd45cZXIUSWHRSjoC3vEhGPD6xPX/ZEwGHlRrt1LX3o9PQiTmY+Sg0AaB73RsuVALZfoVOph2OU5GTTPLkOc7t1lc+1288u17JTjwBnft39t3PtwDDeTE3o5M4zuJ3E7c9zEmSYGyT1hcpUcTY+YUlqm7Z/iJrjz/Gn791/tbjxtfPbRgbOzD+80Np8Ps/cllIUwuzQgNMxeaJyACtk+6QrTlyoPI8eRgmOKnAEYxyR/+zTGIJq7ND1/Y3r+Yq+MF6NITCnA8dLUQleF0bJI+lXShKSOobU+y2+VbEWXkYOpj6mp+JSiBuIIMnECt//ZXXPzwYPd/x7Ys/e0jiNrpAr3fDR7MY7q1VRNjl2HUe4yz6cmQa4LGYEOaj/NiGH2AXA2Sz8iHtWTWpVyuEor0IeQKzPRigCRQ8rTRYyuqIFSI2eA/vb4FX9fXf0f7uNrHgQtAAA=&quot;"/>
    <we:property name="isFiltersActionButtonVisible" value="false"/>
    <we:property name="isFooterCollapsed" value="true"/>
    <we:property name="isVisualContainerHeaderHidden" value="false"/>
    <we:property name="pageDisplayName" value="&quot;6副本 的副本&quot;"/>
    <we:property name="pageName" value="&quot;592f002f7f9c30a50ba3&quot;"/>
    <we:property name="pptInsertionSessionID" value="&quot;6E5C7293-1933-4387-928C-362E9724ABF6&quot;"/>
    <we:property name="reportEmbeddedTime" value="&quot;2025-10-10T01:08:39.586Z&quot;"/>
    <we:property name="reportName" value="&quot;安全看板Ultimate&quot;"/>
    <we:property name="reportState" value="&quot;CONNECTED&quot;"/>
    <we:property name="reportUrl" value="&quot;/links/wyTDIPZXJM?ctid=74fe92c5-ef57-4d1a-a0e7-9451117d9272&amp;bookmarkGuid=9b39a41e-9fe2-423c-837a-eaed79f4df17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263</Words>
  <Application>Microsoft Office PowerPoint</Application>
  <PresentationFormat>宽屏</PresentationFormat>
  <Paragraphs>95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Zheng, Yijian Darnell</cp:lastModifiedBy>
  <cp:revision>3</cp:revision>
  <dcterms:created xsi:type="dcterms:W3CDTF">2018-06-07T21:39:02Z</dcterms:created>
  <dcterms:modified xsi:type="dcterms:W3CDTF">2025-10-10T01:14:48Z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